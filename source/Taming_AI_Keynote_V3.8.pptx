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2413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4"/>
  </p:normalViewPr>
  <p:slideViewPr>
    <p:cSldViewPr snapToGrid="0">
      <p:cViewPr varScale="1">
        <p:scale>
          <a:sx n="130" d="100"/>
          <a:sy n="130" d="100"/>
        </p:scale>
        <p:origin x="8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88D8B1B-BFDC-43D9-9E33-F02D4770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71" y="1943100"/>
            <a:ext cx="7313371" cy="7429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5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F53A34E-45A4-4EF6-A0E0-2A88CD671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257" y="2828925"/>
            <a:ext cx="6399200" cy="571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25C280A-D4FA-4064-8806-8F1FE6D41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71" y="2143125"/>
            <a:ext cx="7313371" cy="857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4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95BC9DB-9BE0-4728-8BE9-F3B164867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221" y="400050"/>
            <a:ext cx="8113271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8F2301D-E59A-4DA2-85C1-723A35318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221" y="1428750"/>
            <a:ext cx="8113271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07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399950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493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036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579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121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2664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207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1999750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5C3D9D5-7E2E-4565-9C84-C04F1CDCB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221" y="400050"/>
            <a:ext cx="8113271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E9F4C54-B233-436B-BBA5-C830808DF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221" y="1428750"/>
            <a:ext cx="3770957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07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399950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493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036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579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121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2664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207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1999750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AD478FE-8DC5-4A36-B719-95C805CAA40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6536" y="1428750"/>
            <a:ext cx="3770957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07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399950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493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036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579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121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2664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207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1999750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4820F63-D636-4CA9-9508-27C9CFB3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221" y="400050"/>
            <a:ext cx="8113271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966810-CA57-47B6-BAA3-10CEC7C57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221" y="1428750"/>
            <a:ext cx="3770957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07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399950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493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036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579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121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2664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207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1999750" indent="-171407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2CE22727-D0EC-42CB-874E-642706609807}"/>
              </a:ext>
            </a:extLst>
          </p:cNvPr>
          <p:cNvSpPr>
            <a:spLocks noGrp="1"/>
          </p:cNvSpPr>
          <p:nvPr/>
        </p:nvSpPr>
        <p:spPr>
          <a:xfrm>
            <a:off x="0" y="-47"/>
            <a:ext cx="9141714" cy="5144834"/>
          </a:xfrm>
          <a:custGeom>
            <a:avLst/>
            <a:gdLst/>
            <a:ahLst/>
            <a:cxnLst/>
            <a:rect l="0" t="0" r="0" b="0"/>
            <a:pathLst>
              <a:path w="9141714" h="5144834">
                <a:moveTo>
                  <a:pt x="0" y="0"/>
                </a:moveTo>
                <a:lnTo>
                  <a:pt x="9141714" y="0"/>
                </a:lnTo>
                <a:lnTo>
                  <a:pt x="9141714" y="5144834"/>
                </a:lnTo>
                <a:lnTo>
                  <a:pt x="0" y="5144834"/>
                </a:lnTo>
                <a:close/>
              </a:path>
            </a:pathLst>
          </a:custGeom>
          <a:solidFill>
            <a:srgbClr val="1421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00BCA6-C6E1-4026-AFD4-2A181E7A73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8A3A70-F56C-47D8-B364-659B4AF72C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sp>
        <p:nvSpPr>
          <p:cNvPr id="4" name="01">
            <a:extLst>
              <a:ext uri="{FF2B5EF4-FFF2-40B4-BE49-F238E27FC236}">
                <a16:creationId xmlns:a16="http://schemas.microsoft.com/office/drawing/2014/main" id="{59059929-1E68-4B61-BB86-72891EBC9C6E}"/>
              </a:ext>
            </a:extLst>
          </p:cNvPr>
          <p:cNvSpPr>
            <a:spLocks noGrp="1"/>
          </p:cNvSpPr>
          <p:nvPr/>
        </p:nvSpPr>
        <p:spPr>
          <a:xfrm>
            <a:off x="525942" y="4856879"/>
            <a:ext cx="199222" cy="192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6" b="0" i="0">
                <a:solidFill>
                  <a:srgbClr val="B4CAD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756" b="0" i="0">
                <a:solidFill>
                  <a:srgbClr val="B4CAD5"/>
                </a:solidFill>
                <a:latin typeface="Verdana"/>
                <a:ea typeface="Verdana"/>
                <a:cs typeface="Verdana"/>
              </a:defRPr>
            </a:pPr>
            <a:r>
              <a:rPr sz="756" b="0" i="0">
                <a:solidFill>
                  <a:srgbClr val="B4CAD5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5" name="Taming AI">
            <a:extLst>
              <a:ext uri="{FF2B5EF4-FFF2-40B4-BE49-F238E27FC236}">
                <a16:creationId xmlns:a16="http://schemas.microsoft.com/office/drawing/2014/main" id="{676024C2-DB4B-4BDA-B93D-72D236BF5CE8}"/>
              </a:ext>
            </a:extLst>
          </p:cNvPr>
          <p:cNvSpPr>
            <a:spLocks noGrp="1"/>
          </p:cNvSpPr>
          <p:nvPr/>
        </p:nvSpPr>
        <p:spPr>
          <a:xfrm>
            <a:off x="533267" y="740192"/>
            <a:ext cx="3073144" cy="7214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057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4057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4057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Taming AI</a:t>
            </a:r>
          </a:p>
        </p:txBody>
      </p:sp>
      <p:sp>
        <p:nvSpPr>
          <p:cNvPr id="6" name="Start by Properly">
            <a:extLst>
              <a:ext uri="{FF2B5EF4-FFF2-40B4-BE49-F238E27FC236}">
                <a16:creationId xmlns:a16="http://schemas.microsoft.com/office/drawing/2014/main" id="{A7AEE662-198E-4034-A99F-17DF4FE7D113}"/>
              </a:ext>
            </a:extLst>
          </p:cNvPr>
          <p:cNvSpPr>
            <a:spLocks noGrp="1"/>
          </p:cNvSpPr>
          <p:nvPr/>
        </p:nvSpPr>
        <p:spPr>
          <a:xfrm>
            <a:off x="533267" y="1384552"/>
            <a:ext cx="3357160" cy="4923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4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704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pPr>
            <a:r>
              <a:rPr sz="2704" b="1" i="0">
                <a:solidFill>
                  <a:srgbClr val="D4ECEA"/>
                </a:solidFill>
                <a:latin typeface="Verdana"/>
                <a:ea typeface="Verdana"/>
                <a:cs typeface="Verdana"/>
              </a:rPr>
              <a:t>Start by Properly</a:t>
            </a:r>
          </a:p>
        </p:txBody>
      </p:sp>
      <p:sp>
        <p:nvSpPr>
          <p:cNvPr id="7" name="Introducing Yourself">
            <a:extLst>
              <a:ext uri="{FF2B5EF4-FFF2-40B4-BE49-F238E27FC236}">
                <a16:creationId xmlns:a16="http://schemas.microsoft.com/office/drawing/2014/main" id="{2188A911-B362-40E4-A423-4CF2A67E5BB1}"/>
              </a:ext>
            </a:extLst>
          </p:cNvPr>
          <p:cNvSpPr>
            <a:spLocks noGrp="1"/>
          </p:cNvSpPr>
          <p:nvPr/>
        </p:nvSpPr>
        <p:spPr>
          <a:xfrm>
            <a:off x="533267" y="1796278"/>
            <a:ext cx="4062017" cy="4926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6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706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pPr>
            <a:r>
              <a:rPr sz="2706" b="1" i="0">
                <a:solidFill>
                  <a:srgbClr val="D4ECEA"/>
                </a:solidFill>
                <a:latin typeface="Verdana"/>
                <a:ea typeface="Verdana"/>
                <a:cs typeface="Verdana"/>
              </a:rPr>
              <a:t>Introducing Yourself</a:t>
            </a:r>
          </a:p>
        </p:txBody>
      </p:sp>
      <p:sp>
        <p:nvSpPr>
          <p:cNvPr id="8" name="By Eva Lerner-Lam, ">
            <a:extLst>
              <a:ext uri="{FF2B5EF4-FFF2-40B4-BE49-F238E27FC236}">
                <a16:creationId xmlns:a16="http://schemas.microsoft.com/office/drawing/2014/main" id="{6E71FD22-E8BA-4DB5-BC5B-B1C49E74CB37}"/>
              </a:ext>
            </a:extLst>
          </p:cNvPr>
          <p:cNvSpPr>
            <a:spLocks noGrp="1"/>
          </p:cNvSpPr>
          <p:nvPr/>
        </p:nvSpPr>
        <p:spPr>
          <a:xfrm>
            <a:off x="554555" y="3602025"/>
            <a:ext cx="2345120" cy="3178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7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57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By Eva Lerner-Lam, </a:t>
            </a:r>
          </a:p>
        </p:txBody>
      </p:sp>
      <p:sp>
        <p:nvSpPr>
          <p:cNvPr id="9" name="NAE, Dist.M.ASCE, F.ITE, M.SAE">
            <a:extLst>
              <a:ext uri="{FF2B5EF4-FFF2-40B4-BE49-F238E27FC236}">
                <a16:creationId xmlns:a16="http://schemas.microsoft.com/office/drawing/2014/main" id="{D3D9D1D6-9A92-4CC0-92A0-6877385CFE10}"/>
              </a:ext>
            </a:extLst>
          </p:cNvPr>
          <p:cNvSpPr>
            <a:spLocks noGrp="1"/>
          </p:cNvSpPr>
          <p:nvPr/>
        </p:nvSpPr>
        <p:spPr>
          <a:xfrm>
            <a:off x="2820257" y="3608918"/>
            <a:ext cx="3433040" cy="3095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6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6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516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NAE, Dist.M.ASCE, F.ITE, M.SAE</a:t>
            </a:r>
          </a:p>
        </p:txBody>
      </p:sp>
      <p:sp>
        <p:nvSpPr>
          <p:cNvPr id="10" name="President, Palisades Consulting Group, Inc., Tenafly, NJ">
            <a:extLst>
              <a:ext uri="{FF2B5EF4-FFF2-40B4-BE49-F238E27FC236}">
                <a16:creationId xmlns:a16="http://schemas.microsoft.com/office/drawing/2014/main" id="{2A0330B2-023B-4EBE-B538-AFFD0AFB8E5C}"/>
              </a:ext>
            </a:extLst>
          </p:cNvPr>
          <p:cNvSpPr>
            <a:spLocks noGrp="1"/>
          </p:cNvSpPr>
          <p:nvPr/>
        </p:nvSpPr>
        <p:spPr>
          <a:xfrm>
            <a:off x="554555" y="3906650"/>
            <a:ext cx="4437582" cy="2679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6" b="0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46" b="0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pPr>
            <a:r>
              <a:rPr sz="1246" b="0" i="0">
                <a:solidFill>
                  <a:srgbClr val="D4ECEA"/>
                </a:solidFill>
                <a:latin typeface="Verdana"/>
                <a:ea typeface="Verdana"/>
                <a:cs typeface="Verdana"/>
              </a:rPr>
              <a:t>President, Palisades Consulting Group, Inc., Tenafly, NJ</a:t>
            </a:r>
          </a:p>
        </p:txBody>
      </p:sp>
      <p:sp>
        <p:nvSpPr>
          <p:cNvPr id="11" name="Co-Authors: Hannah Chun and Yasmin Korin">
            <a:extLst>
              <a:ext uri="{FF2B5EF4-FFF2-40B4-BE49-F238E27FC236}">
                <a16:creationId xmlns:a16="http://schemas.microsoft.com/office/drawing/2014/main" id="{65A68BC6-75C5-4A08-BB94-5C93035B7278}"/>
              </a:ext>
            </a:extLst>
          </p:cNvPr>
          <p:cNvSpPr>
            <a:spLocks noGrp="1"/>
          </p:cNvSpPr>
          <p:nvPr/>
        </p:nvSpPr>
        <p:spPr>
          <a:xfrm>
            <a:off x="554555" y="4262286"/>
            <a:ext cx="3574022" cy="2676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4" b="0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44" b="0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pPr>
            <a:r>
              <a:rPr sz="1244" b="0" i="0">
                <a:solidFill>
                  <a:srgbClr val="D4ECEA"/>
                </a:solidFill>
                <a:latin typeface="Verdana"/>
                <a:ea typeface="Verdana"/>
                <a:cs typeface="Verdana"/>
              </a:rPr>
              <a:t>Co-Authors: Hannah Chun and Yasmin Korin</a:t>
            </a:r>
          </a:p>
        </p:txBody>
      </p:sp>
      <p:sp>
        <p:nvSpPr>
          <p:cNvPr id="12" name="Keynote Address presented at PACTrans Region 10 ">
            <a:extLst>
              <a:ext uri="{FF2B5EF4-FFF2-40B4-BE49-F238E27FC236}">
                <a16:creationId xmlns:a16="http://schemas.microsoft.com/office/drawing/2014/main" id="{7DDCF76B-025A-49F7-848C-3BE06229B752}"/>
              </a:ext>
            </a:extLst>
          </p:cNvPr>
          <p:cNvSpPr>
            <a:spLocks noGrp="1"/>
          </p:cNvSpPr>
          <p:nvPr/>
        </p:nvSpPr>
        <p:spPr>
          <a:xfrm>
            <a:off x="554555" y="2436690"/>
            <a:ext cx="5875159" cy="3175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8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68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568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Keynote Address presented at PACTrans Region 10 </a:t>
            </a:r>
          </a:p>
        </p:txBody>
      </p:sp>
      <p:sp>
        <p:nvSpPr>
          <p:cNvPr id="13" name="Student Conference, Anchorage, AK">
            <a:extLst>
              <a:ext uri="{FF2B5EF4-FFF2-40B4-BE49-F238E27FC236}">
                <a16:creationId xmlns:a16="http://schemas.microsoft.com/office/drawing/2014/main" id="{B4D64E05-BECF-47BD-93C9-67BB62949419}"/>
              </a:ext>
            </a:extLst>
          </p:cNvPr>
          <p:cNvSpPr>
            <a:spLocks noGrp="1"/>
          </p:cNvSpPr>
          <p:nvPr/>
        </p:nvSpPr>
        <p:spPr>
          <a:xfrm>
            <a:off x="554555" y="2676671"/>
            <a:ext cx="4095063" cy="3178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70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57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Student Conference, Anchorage, AK</a:t>
            </a:r>
          </a:p>
        </p:txBody>
      </p:sp>
      <p:sp>
        <p:nvSpPr>
          <p:cNvPr id="14" name="October 10, 2026">
            <a:extLst>
              <a:ext uri="{FF2B5EF4-FFF2-40B4-BE49-F238E27FC236}">
                <a16:creationId xmlns:a16="http://schemas.microsoft.com/office/drawing/2014/main" id="{2DA3A6B2-D9C6-494C-A974-FE41B13E2BE1}"/>
              </a:ext>
            </a:extLst>
          </p:cNvPr>
          <p:cNvSpPr>
            <a:spLocks noGrp="1"/>
          </p:cNvSpPr>
          <p:nvPr/>
        </p:nvSpPr>
        <p:spPr>
          <a:xfrm>
            <a:off x="554555" y="2917417"/>
            <a:ext cx="2023196" cy="3175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8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68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568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October 10, 2026</a:t>
            </a:r>
          </a:p>
        </p:txBody>
      </p:sp>
    </p:spTree>
    <p:extLst>
      <p:ext uri="{BB962C8B-B14F-4D97-AF65-F5344CB8AC3E}">
        <p14:creationId xmlns:p14="http://schemas.microsoft.com/office/powerpoint/2010/main" val="345868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31D8EBE9-1F80-4170-AB7B-1AA3069BAE24}"/>
              </a:ext>
            </a:extLst>
          </p:cNvPr>
          <p:cNvSpPr>
            <a:spLocks noGrp="1"/>
          </p:cNvSpPr>
          <p:nvPr/>
        </p:nvSpPr>
        <p:spPr>
          <a:xfrm>
            <a:off x="0" y="-47"/>
            <a:ext cx="9141714" cy="5144834"/>
          </a:xfrm>
          <a:custGeom>
            <a:avLst/>
            <a:gdLst/>
            <a:ahLst/>
            <a:cxnLst/>
            <a:rect l="0" t="0" r="0" b="0"/>
            <a:pathLst>
              <a:path w="9141714" h="5144834">
                <a:moveTo>
                  <a:pt x="0" y="0"/>
                </a:moveTo>
                <a:lnTo>
                  <a:pt x="9141714" y="0"/>
                </a:lnTo>
                <a:lnTo>
                  <a:pt x="9141714" y="5144834"/>
                </a:lnTo>
                <a:lnTo>
                  <a:pt x="0" y="5144834"/>
                </a:lnTo>
                <a:close/>
              </a:path>
            </a:pathLst>
          </a:cu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28F559-5FC9-4ABE-9530-EE7486E6AC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sp>
        <p:nvSpPr>
          <p:cNvPr id="3" name="02">
            <a:extLst>
              <a:ext uri="{FF2B5EF4-FFF2-40B4-BE49-F238E27FC236}">
                <a16:creationId xmlns:a16="http://schemas.microsoft.com/office/drawing/2014/main" id="{11188992-9E73-4259-909C-86ECE83DC791}"/>
              </a:ext>
            </a:extLst>
          </p:cNvPr>
          <p:cNvSpPr>
            <a:spLocks noGrp="1"/>
          </p:cNvSpPr>
          <p:nvPr/>
        </p:nvSpPr>
        <p:spPr>
          <a:xfrm>
            <a:off x="525942" y="4856879"/>
            <a:ext cx="199222" cy="192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4" name="“AI is not artificial, nor is it intelligent;">
            <a:extLst>
              <a:ext uri="{FF2B5EF4-FFF2-40B4-BE49-F238E27FC236}">
                <a16:creationId xmlns:a16="http://schemas.microsoft.com/office/drawing/2014/main" id="{554098A1-DD20-402B-8C04-669647C58BA3}"/>
              </a:ext>
            </a:extLst>
          </p:cNvPr>
          <p:cNvSpPr>
            <a:spLocks noGrp="1"/>
          </p:cNvSpPr>
          <p:nvPr/>
        </p:nvSpPr>
        <p:spPr>
          <a:xfrm>
            <a:off x="1301401" y="1378376"/>
            <a:ext cx="6647248" cy="4425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38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38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38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“AI is not artificial, nor is it intelligent;</a:t>
            </a:r>
          </a:p>
        </p:txBody>
      </p:sp>
      <p:sp>
        <p:nvSpPr>
          <p:cNvPr id="5" name="it is simply Automated Inference.”">
            <a:extLst>
              <a:ext uri="{FF2B5EF4-FFF2-40B4-BE49-F238E27FC236}">
                <a16:creationId xmlns:a16="http://schemas.microsoft.com/office/drawing/2014/main" id="{702D99D2-23AC-4AF2-8535-CD9BC77421E4}"/>
              </a:ext>
            </a:extLst>
          </p:cNvPr>
          <p:cNvSpPr>
            <a:spLocks noGrp="1"/>
          </p:cNvSpPr>
          <p:nvPr/>
        </p:nvSpPr>
        <p:spPr>
          <a:xfrm>
            <a:off x="1676209" y="1742326"/>
            <a:ext cx="5889257" cy="4425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38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38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38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it is simply Automated Inference.”</a:t>
            </a:r>
          </a:p>
        </p:txBody>
      </p:sp>
      <p:sp>
        <p:nvSpPr>
          <p:cNvPr id="6" name="-&gt; AI models infer from learned patterns and the context you supply.">
            <a:extLst>
              <a:ext uri="{FF2B5EF4-FFF2-40B4-BE49-F238E27FC236}">
                <a16:creationId xmlns:a16="http://schemas.microsoft.com/office/drawing/2014/main" id="{2DE83E9F-45ED-46A9-B84B-9E36623D4532}"/>
              </a:ext>
            </a:extLst>
          </p:cNvPr>
          <p:cNvSpPr>
            <a:spLocks noGrp="1"/>
          </p:cNvSpPr>
          <p:nvPr/>
        </p:nvSpPr>
        <p:spPr>
          <a:xfrm>
            <a:off x="922992" y="2849516"/>
            <a:ext cx="7331509" cy="32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24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24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624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-&gt; AI models infer from learned patterns and the context you supply.</a:t>
            </a:r>
          </a:p>
        </p:txBody>
      </p:sp>
      <p:sp>
        <p:nvSpPr>
          <p:cNvPr id="10" name="-&gt; AI models infer from learned patterns and the context you supply.">
            <a:extLst>
              <a:ext uri="{FF2B5EF4-FFF2-40B4-BE49-F238E27FC236}">
                <a16:creationId xmlns:a16="http://schemas.microsoft.com/office/drawing/2014/main" id="{D55332FF-E320-5A3A-BC99-E3BF59EF610F}"/>
              </a:ext>
            </a:extLst>
          </p:cNvPr>
          <p:cNvSpPr>
            <a:spLocks noGrp="1"/>
          </p:cNvSpPr>
          <p:nvPr/>
        </p:nvSpPr>
        <p:spPr>
          <a:xfrm>
            <a:off x="922992" y="3321758"/>
            <a:ext cx="7331509" cy="7980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24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24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624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-&gt; </a:t>
            </a:r>
            <a:r>
              <a:rPr lang="en-US" sz="1624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The more accurate the source data is, the less hallucination </a:t>
            </a:r>
            <a:br>
              <a:rPr lang="en-US" sz="1624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</a:br>
            <a:r>
              <a:rPr lang="en-US" sz="1624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     (and energy use at data centers!) there will be.</a:t>
            </a:r>
            <a:endParaRPr sz="1624" b="0" i="0" dirty="0">
              <a:solidFill>
                <a:srgbClr val="3D4855"/>
              </a:solidFill>
              <a:latin typeface="Verdana"/>
              <a:ea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26671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FEBF69-1193-4E30-9732-E78B7F6A3A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sp>
        <p:nvSpPr>
          <p:cNvPr id="6" name="AI Models are Trained; Teach yours well">
            <a:extLst>
              <a:ext uri="{FF2B5EF4-FFF2-40B4-BE49-F238E27FC236}">
                <a16:creationId xmlns:a16="http://schemas.microsoft.com/office/drawing/2014/main" id="{7327E063-ABFB-4830-B05C-E82613954E32}"/>
              </a:ext>
            </a:extLst>
          </p:cNvPr>
          <p:cNvSpPr>
            <a:spLocks noGrp="1"/>
          </p:cNvSpPr>
          <p:nvPr/>
        </p:nvSpPr>
        <p:spPr>
          <a:xfrm>
            <a:off x="525942" y="340791"/>
            <a:ext cx="6532104" cy="4258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AI Models are Trained; Teach yours well</a:t>
            </a:r>
          </a:p>
        </p:txBody>
      </p:sp>
      <p:sp>
        <p:nvSpPr>
          <p:cNvPr id="7" name="03">
            <a:extLst>
              <a:ext uri="{FF2B5EF4-FFF2-40B4-BE49-F238E27FC236}">
                <a16:creationId xmlns:a16="http://schemas.microsoft.com/office/drawing/2014/main" id="{6427920F-47F9-41FB-ACFC-C4040BE8C579}"/>
              </a:ext>
            </a:extLst>
          </p:cNvPr>
          <p:cNvSpPr>
            <a:spLocks noGrp="1"/>
          </p:cNvSpPr>
          <p:nvPr/>
        </p:nvSpPr>
        <p:spPr>
          <a:xfrm>
            <a:off x="525942" y="4856879"/>
            <a:ext cx="199222" cy="192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8" name="Training">
            <a:extLst>
              <a:ext uri="{FF2B5EF4-FFF2-40B4-BE49-F238E27FC236}">
                <a16:creationId xmlns:a16="http://schemas.microsoft.com/office/drawing/2014/main" id="{26AB445C-D9DD-41EC-A2BF-2C584BF93178}"/>
              </a:ext>
            </a:extLst>
          </p:cNvPr>
          <p:cNvSpPr>
            <a:spLocks noGrp="1"/>
          </p:cNvSpPr>
          <p:nvPr/>
        </p:nvSpPr>
        <p:spPr>
          <a:xfrm>
            <a:off x="611781" y="1328586"/>
            <a:ext cx="971757" cy="3092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Training</a:t>
            </a:r>
          </a:p>
        </p:txBody>
      </p:sp>
      <p:sp>
        <p:nvSpPr>
          <p:cNvPr id="9" name="Training shapes the model’s learned patterns.">
            <a:extLst>
              <a:ext uri="{FF2B5EF4-FFF2-40B4-BE49-F238E27FC236}">
                <a16:creationId xmlns:a16="http://schemas.microsoft.com/office/drawing/2014/main" id="{5AE5F24B-5004-424D-ABA3-2FC7BE33D203}"/>
              </a:ext>
            </a:extLst>
          </p:cNvPr>
          <p:cNvSpPr>
            <a:spLocks noGrp="1"/>
          </p:cNvSpPr>
          <p:nvPr/>
        </p:nvSpPr>
        <p:spPr>
          <a:xfrm>
            <a:off x="3199162" y="1328620"/>
            <a:ext cx="4345874" cy="3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Training shapes the model’s learned patterns.</a:t>
            </a:r>
          </a:p>
        </p:txBody>
      </p:sp>
      <p:sp>
        <p:nvSpPr>
          <p:cNvPr id="10" name="Retrieval">
            <a:extLst>
              <a:ext uri="{FF2B5EF4-FFF2-40B4-BE49-F238E27FC236}">
                <a16:creationId xmlns:a16="http://schemas.microsoft.com/office/drawing/2014/main" id="{56927C43-3A52-4A4C-A973-2AC476042F96}"/>
              </a:ext>
            </a:extLst>
          </p:cNvPr>
          <p:cNvSpPr>
            <a:spLocks noGrp="1"/>
          </p:cNvSpPr>
          <p:nvPr/>
        </p:nvSpPr>
        <p:spPr>
          <a:xfrm>
            <a:off x="611781" y="2187169"/>
            <a:ext cx="1054237" cy="3092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Retrieval</a:t>
            </a:r>
          </a:p>
        </p:txBody>
      </p:sp>
      <p:sp>
        <p:nvSpPr>
          <p:cNvPr id="11" name="Retrieval-augmented generation (RAG) supplies source ">
            <a:extLst>
              <a:ext uri="{FF2B5EF4-FFF2-40B4-BE49-F238E27FC236}">
                <a16:creationId xmlns:a16="http://schemas.microsoft.com/office/drawing/2014/main" id="{B02B63FB-AEE2-43CD-A74F-63BB91F0654E}"/>
              </a:ext>
            </a:extLst>
          </p:cNvPr>
          <p:cNvSpPr>
            <a:spLocks noGrp="1"/>
          </p:cNvSpPr>
          <p:nvPr/>
        </p:nvSpPr>
        <p:spPr>
          <a:xfrm>
            <a:off x="3199162" y="2187204"/>
            <a:ext cx="5293114" cy="3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Retrieval-augmented generation (RAG) supplies source </a:t>
            </a:r>
          </a:p>
        </p:txBody>
      </p:sp>
      <p:sp>
        <p:nvSpPr>
          <p:cNvPr id="12" name="evidence when a user enters a prompt and triggers a ">
            <a:extLst>
              <a:ext uri="{FF2B5EF4-FFF2-40B4-BE49-F238E27FC236}">
                <a16:creationId xmlns:a16="http://schemas.microsoft.com/office/drawing/2014/main" id="{1C130F6F-DC55-4EFA-84EF-BB80AC47BFE7}"/>
              </a:ext>
            </a:extLst>
          </p:cNvPr>
          <p:cNvSpPr>
            <a:spLocks noGrp="1"/>
          </p:cNvSpPr>
          <p:nvPr/>
        </p:nvSpPr>
        <p:spPr>
          <a:xfrm>
            <a:off x="3199162" y="2406946"/>
            <a:ext cx="5126944" cy="3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evidence when a user enters a prompt and triggers a </a:t>
            </a:r>
          </a:p>
        </p:txBody>
      </p:sp>
      <p:sp>
        <p:nvSpPr>
          <p:cNvPr id="13" name="RAG tool into action.">
            <a:extLst>
              <a:ext uri="{FF2B5EF4-FFF2-40B4-BE49-F238E27FC236}">
                <a16:creationId xmlns:a16="http://schemas.microsoft.com/office/drawing/2014/main" id="{E7AB72F9-9AFA-48FF-B909-D67A2795D34B}"/>
              </a:ext>
            </a:extLst>
          </p:cNvPr>
          <p:cNvSpPr>
            <a:spLocks noGrp="1"/>
          </p:cNvSpPr>
          <p:nvPr/>
        </p:nvSpPr>
        <p:spPr>
          <a:xfrm>
            <a:off x="3199162" y="2633210"/>
            <a:ext cx="2009150" cy="3011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RAG tool into action.</a:t>
            </a:r>
          </a:p>
        </p:txBody>
      </p:sp>
      <p:sp>
        <p:nvSpPr>
          <p:cNvPr id="14" name="Your contribution">
            <a:extLst>
              <a:ext uri="{FF2B5EF4-FFF2-40B4-BE49-F238E27FC236}">
                <a16:creationId xmlns:a16="http://schemas.microsoft.com/office/drawing/2014/main" id="{A95ED23B-39BA-4473-8AAA-86F667C9654C}"/>
              </a:ext>
            </a:extLst>
          </p:cNvPr>
          <p:cNvSpPr>
            <a:spLocks noGrp="1"/>
          </p:cNvSpPr>
          <p:nvPr/>
        </p:nvSpPr>
        <p:spPr>
          <a:xfrm>
            <a:off x="611781" y="3187563"/>
            <a:ext cx="1976563" cy="5211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6" b="1" i="0" dirty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Your contribution</a:t>
            </a:r>
            <a:br>
              <a:rPr lang="en-US" sz="1516" b="1" i="0" dirty="0">
                <a:solidFill>
                  <a:srgbClr val="0B5C6B"/>
                </a:solidFill>
                <a:latin typeface="Verdana"/>
                <a:ea typeface="Verdana"/>
                <a:cs typeface="Verdana"/>
              </a:rPr>
            </a:br>
            <a:r>
              <a:rPr lang="en-US" sz="1516" b="1" i="0" dirty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to the AI Ecosystem</a:t>
            </a:r>
            <a:endParaRPr sz="1516" b="1" i="0" dirty="0">
              <a:solidFill>
                <a:srgbClr val="0B5C6B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5" name="Starts with a precise identity record that supplies ">
            <a:extLst>
              <a:ext uri="{FF2B5EF4-FFF2-40B4-BE49-F238E27FC236}">
                <a16:creationId xmlns:a16="http://schemas.microsoft.com/office/drawing/2014/main" id="{5B20B3CA-C9D6-4C67-9BDC-2E438793B5BB}"/>
              </a:ext>
            </a:extLst>
          </p:cNvPr>
          <p:cNvSpPr>
            <a:spLocks noGrp="1"/>
          </p:cNvSpPr>
          <p:nvPr/>
        </p:nvSpPr>
        <p:spPr>
          <a:xfrm>
            <a:off x="3199162" y="3217093"/>
            <a:ext cx="4754111" cy="3011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2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Starts with a precise identity record that </a:t>
            </a:r>
            <a:r>
              <a:rPr lang="en-US" sz="1462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makes</a:t>
            </a:r>
            <a:endParaRPr sz="1462" b="0" i="0" dirty="0">
              <a:solidFill>
                <a:srgbClr val="3D4855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6" name="verified content to AI models.">
            <a:extLst>
              <a:ext uri="{FF2B5EF4-FFF2-40B4-BE49-F238E27FC236}">
                <a16:creationId xmlns:a16="http://schemas.microsoft.com/office/drawing/2014/main" id="{C96F7D03-9B45-4684-9D6C-37C56020AEE0}"/>
              </a:ext>
            </a:extLst>
          </p:cNvPr>
          <p:cNvSpPr>
            <a:spLocks noGrp="1"/>
          </p:cNvSpPr>
          <p:nvPr/>
        </p:nvSpPr>
        <p:spPr>
          <a:xfrm>
            <a:off x="3199162" y="3437265"/>
            <a:ext cx="2861917" cy="3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lang="en-US" sz="1462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permissioned information a</a:t>
            </a:r>
            <a:r>
              <a:rPr lang="en-US" sz="1460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bout YOU accessible </a:t>
            </a:r>
            <a:r>
              <a:rPr sz="1460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to AI models.</a:t>
            </a:r>
          </a:p>
        </p:txBody>
      </p:sp>
    </p:spTree>
    <p:extLst>
      <p:ext uri="{BB962C8B-B14F-4D97-AF65-F5344CB8AC3E}">
        <p14:creationId xmlns:p14="http://schemas.microsoft.com/office/powerpoint/2010/main" val="1075230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4A5A0928-1561-47F2-A640-50178A11DCDB}"/>
              </a:ext>
            </a:extLst>
          </p:cNvPr>
          <p:cNvSpPr>
            <a:spLocks noGrp="1"/>
          </p:cNvSpPr>
          <p:nvPr/>
        </p:nvSpPr>
        <p:spPr>
          <a:xfrm>
            <a:off x="0" y="-47"/>
            <a:ext cx="9141714" cy="5144834"/>
          </a:xfrm>
          <a:custGeom>
            <a:avLst/>
            <a:gdLst/>
            <a:ahLst/>
            <a:cxnLst/>
            <a:rect l="0" t="0" r="0" b="0"/>
            <a:pathLst>
              <a:path w="9141714" h="5144834">
                <a:moveTo>
                  <a:pt x="0" y="0"/>
                </a:moveTo>
                <a:lnTo>
                  <a:pt x="9141714" y="0"/>
                </a:lnTo>
                <a:lnTo>
                  <a:pt x="9141714" y="5144834"/>
                </a:lnTo>
                <a:lnTo>
                  <a:pt x="0" y="5144834"/>
                </a:lnTo>
                <a:close/>
              </a:path>
            </a:pathLst>
          </a:cu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C406A3-4215-4833-9AC0-08C66E4B01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sp>
        <p:nvSpPr>
          <p:cNvPr id="3" name="-&gt; Create Your Own &quot;Verified and Validated&quot;">
            <a:extLst>
              <a:ext uri="{FF2B5EF4-FFF2-40B4-BE49-F238E27FC236}">
                <a16:creationId xmlns:a16="http://schemas.microsoft.com/office/drawing/2014/main" id="{5C957471-3311-43DC-ACC9-6E64AD0B80C4}"/>
              </a:ext>
            </a:extLst>
          </p:cNvPr>
          <p:cNvSpPr>
            <a:spLocks noGrp="1"/>
          </p:cNvSpPr>
          <p:nvPr/>
        </p:nvSpPr>
        <p:spPr>
          <a:xfrm>
            <a:off x="525942" y="340791"/>
            <a:ext cx="7275035" cy="4258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-&gt; Create Your Own "Verified and Validated"</a:t>
            </a:r>
          </a:p>
        </p:txBody>
      </p:sp>
      <p:sp>
        <p:nvSpPr>
          <p:cNvPr id="4" name="introduction: ">
            <a:extLst>
              <a:ext uri="{FF2B5EF4-FFF2-40B4-BE49-F238E27FC236}">
                <a16:creationId xmlns:a16="http://schemas.microsoft.com/office/drawing/2014/main" id="{45795A06-C682-4B42-A680-1D480ACF0850}"/>
              </a:ext>
            </a:extLst>
          </p:cNvPr>
          <p:cNvSpPr>
            <a:spLocks noGrp="1"/>
          </p:cNvSpPr>
          <p:nvPr/>
        </p:nvSpPr>
        <p:spPr>
          <a:xfrm>
            <a:off x="525942" y="704932"/>
            <a:ext cx="2260686" cy="4258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introduction: </a:t>
            </a:r>
          </a:p>
        </p:txBody>
      </p:sp>
      <p:sp>
        <p:nvSpPr>
          <p:cNvPr id="5" name="A Soulbound Token (SBT)">
            <a:extLst>
              <a:ext uri="{FF2B5EF4-FFF2-40B4-BE49-F238E27FC236}">
                <a16:creationId xmlns:a16="http://schemas.microsoft.com/office/drawing/2014/main" id="{E9030225-9F01-4A5C-B535-EE2EDC91E65E}"/>
              </a:ext>
            </a:extLst>
          </p:cNvPr>
          <p:cNvSpPr>
            <a:spLocks noGrp="1"/>
          </p:cNvSpPr>
          <p:nvPr/>
        </p:nvSpPr>
        <p:spPr>
          <a:xfrm>
            <a:off x="2708434" y="691147"/>
            <a:ext cx="4469087" cy="4425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380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380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2380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A Soulbound Token (SBT)</a:t>
            </a:r>
          </a:p>
        </p:txBody>
      </p:sp>
      <p:sp>
        <p:nvSpPr>
          <p:cNvPr id="6" name="04">
            <a:extLst>
              <a:ext uri="{FF2B5EF4-FFF2-40B4-BE49-F238E27FC236}">
                <a16:creationId xmlns:a16="http://schemas.microsoft.com/office/drawing/2014/main" id="{6DCD9DA5-FA67-4CBF-813E-A8FD911CBEEC}"/>
              </a:ext>
            </a:extLst>
          </p:cNvPr>
          <p:cNvSpPr>
            <a:spLocks noGrp="1"/>
          </p:cNvSpPr>
          <p:nvPr/>
        </p:nvSpPr>
        <p:spPr>
          <a:xfrm>
            <a:off x="525942" y="4856879"/>
            <a:ext cx="199222" cy="192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7" name="“An SBT is an identity record bound to its subject, with ">
            <a:extLst>
              <a:ext uri="{FF2B5EF4-FFF2-40B4-BE49-F238E27FC236}">
                <a16:creationId xmlns:a16="http://schemas.microsoft.com/office/drawing/2014/main" id="{8A8AA765-1CF1-46A5-A7C6-1581202EB790}"/>
              </a:ext>
            </a:extLst>
          </p:cNvPr>
          <p:cNvSpPr>
            <a:spLocks noGrp="1"/>
          </p:cNvSpPr>
          <p:nvPr/>
        </p:nvSpPr>
        <p:spPr>
          <a:xfrm>
            <a:off x="604685" y="1686173"/>
            <a:ext cx="7220686" cy="3507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8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78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78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“An SBT is an identity record bound to its subject, with </a:t>
            </a:r>
          </a:p>
        </p:txBody>
      </p:sp>
      <p:sp>
        <p:nvSpPr>
          <p:cNvPr id="8" name="structured claims, evidence and permissions.&quot;">
            <a:extLst>
              <a:ext uri="{FF2B5EF4-FFF2-40B4-BE49-F238E27FC236}">
                <a16:creationId xmlns:a16="http://schemas.microsoft.com/office/drawing/2014/main" id="{92E4D791-4545-4BFD-B69B-1B82FB62A9C8}"/>
              </a:ext>
            </a:extLst>
          </p:cNvPr>
          <p:cNvSpPr>
            <a:spLocks noGrp="1"/>
          </p:cNvSpPr>
          <p:nvPr/>
        </p:nvSpPr>
        <p:spPr>
          <a:xfrm>
            <a:off x="604685" y="1960970"/>
            <a:ext cx="6022446" cy="3507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8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78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78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structured claims, evidence and permissions."</a:t>
            </a:r>
          </a:p>
        </p:txBody>
      </p:sp>
      <p:sp>
        <p:nvSpPr>
          <p:cNvPr id="9" name="“Verified&quot; source">
            <a:extLst>
              <a:ext uri="{FF2B5EF4-FFF2-40B4-BE49-F238E27FC236}">
                <a16:creationId xmlns:a16="http://schemas.microsoft.com/office/drawing/2014/main" id="{09B1A368-2017-4F5B-A6A1-5AE76E6E6FC3}"/>
              </a:ext>
            </a:extLst>
          </p:cNvPr>
          <p:cNvSpPr>
            <a:spLocks noGrp="1"/>
          </p:cNvSpPr>
          <p:nvPr/>
        </p:nvSpPr>
        <p:spPr>
          <a:xfrm>
            <a:off x="611781" y="2695138"/>
            <a:ext cx="1933395" cy="3092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“Verified" source</a:t>
            </a:r>
          </a:p>
        </p:txBody>
      </p:sp>
      <p:sp>
        <p:nvSpPr>
          <p:cNvPr id="10" name="Authenticate who created or issued the record.">
            <a:extLst>
              <a:ext uri="{FF2B5EF4-FFF2-40B4-BE49-F238E27FC236}">
                <a16:creationId xmlns:a16="http://schemas.microsoft.com/office/drawing/2014/main" id="{9EE981A2-D49F-4195-8276-F2B6EA350EE2}"/>
              </a:ext>
            </a:extLst>
          </p:cNvPr>
          <p:cNvSpPr>
            <a:spLocks noGrp="1"/>
          </p:cNvSpPr>
          <p:nvPr/>
        </p:nvSpPr>
        <p:spPr>
          <a:xfrm>
            <a:off x="3199162" y="2695172"/>
            <a:ext cx="4469354" cy="3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Authenticate who created or issued the record.</a:t>
            </a:r>
          </a:p>
        </p:txBody>
      </p:sp>
      <p:sp>
        <p:nvSpPr>
          <p:cNvPr id="11" name="“Validated&quot; claim">
            <a:extLst>
              <a:ext uri="{FF2B5EF4-FFF2-40B4-BE49-F238E27FC236}">
                <a16:creationId xmlns:a16="http://schemas.microsoft.com/office/drawing/2014/main" id="{D157E72C-7288-4D1E-93A4-4172953786D9}"/>
              </a:ext>
            </a:extLst>
          </p:cNvPr>
          <p:cNvSpPr>
            <a:spLocks noGrp="1"/>
          </p:cNvSpPr>
          <p:nvPr/>
        </p:nvSpPr>
        <p:spPr>
          <a:xfrm>
            <a:off x="611781" y="3503715"/>
            <a:ext cx="1964183" cy="3092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“Validated" claim</a:t>
            </a:r>
          </a:p>
        </p:txBody>
      </p:sp>
      <p:sp>
        <p:nvSpPr>
          <p:cNvPr id="12" name="An identified third party checks a claim against ">
            <a:extLst>
              <a:ext uri="{FF2B5EF4-FFF2-40B4-BE49-F238E27FC236}">
                <a16:creationId xmlns:a16="http://schemas.microsoft.com/office/drawing/2014/main" id="{4D916F69-57AF-4A9B-955D-32078B8A913C}"/>
              </a:ext>
            </a:extLst>
          </p:cNvPr>
          <p:cNvSpPr>
            <a:spLocks noGrp="1"/>
          </p:cNvSpPr>
          <p:nvPr/>
        </p:nvSpPr>
        <p:spPr>
          <a:xfrm>
            <a:off x="3199162" y="3503749"/>
            <a:ext cx="4535544" cy="3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An identified third party checks a claim against </a:t>
            </a:r>
          </a:p>
        </p:txBody>
      </p:sp>
      <p:sp>
        <p:nvSpPr>
          <p:cNvPr id="13" name="evidence; record “validated” or “not validated.”">
            <a:extLst>
              <a:ext uri="{FF2B5EF4-FFF2-40B4-BE49-F238E27FC236}">
                <a16:creationId xmlns:a16="http://schemas.microsoft.com/office/drawing/2014/main" id="{AA09E093-F273-483E-A8E5-FDFCEBF8ECA0}"/>
              </a:ext>
            </a:extLst>
          </p:cNvPr>
          <p:cNvSpPr>
            <a:spLocks noGrp="1"/>
          </p:cNvSpPr>
          <p:nvPr/>
        </p:nvSpPr>
        <p:spPr>
          <a:xfrm>
            <a:off x="3199162" y="3723396"/>
            <a:ext cx="4483523" cy="3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evidence; record “validated” or “not validated.”</a:t>
            </a:r>
          </a:p>
        </p:txBody>
      </p:sp>
    </p:spTree>
    <p:extLst>
      <p:ext uri="{BB962C8B-B14F-4D97-AF65-F5344CB8AC3E}">
        <p14:creationId xmlns:p14="http://schemas.microsoft.com/office/powerpoint/2010/main" val="184730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1CD09F99-7464-429E-8F0E-83C91225735D}"/>
              </a:ext>
            </a:extLst>
          </p:cNvPr>
          <p:cNvSpPr>
            <a:spLocks noGrp="1"/>
          </p:cNvSpPr>
          <p:nvPr/>
        </p:nvSpPr>
        <p:spPr>
          <a:xfrm>
            <a:off x="0" y="-47"/>
            <a:ext cx="9141714" cy="5144834"/>
          </a:xfrm>
          <a:custGeom>
            <a:avLst/>
            <a:gdLst/>
            <a:ahLst/>
            <a:cxnLst/>
            <a:rect l="0" t="0" r="0" b="0"/>
            <a:pathLst>
              <a:path w="9141714" h="5144834">
                <a:moveTo>
                  <a:pt x="0" y="0"/>
                </a:moveTo>
                <a:lnTo>
                  <a:pt x="9141714" y="0"/>
                </a:lnTo>
                <a:lnTo>
                  <a:pt x="9141714" y="5144834"/>
                </a:lnTo>
                <a:lnTo>
                  <a:pt x="0" y="5144834"/>
                </a:lnTo>
                <a:close/>
              </a:path>
            </a:pathLst>
          </a:cu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5A2F422-AF1F-4043-A52C-837838FDB9DF}"/>
              </a:ext>
            </a:extLst>
          </p:cNvPr>
          <p:cNvSpPr>
            <a:spLocks noGrp="1"/>
          </p:cNvSpPr>
          <p:nvPr/>
        </p:nvSpPr>
        <p:spPr>
          <a:xfrm>
            <a:off x="459486" y="1625727"/>
            <a:ext cx="3929634" cy="2647874"/>
          </a:xfrm>
          <a:custGeom>
            <a:avLst/>
            <a:gdLst/>
            <a:ahLst/>
            <a:cxnLst/>
            <a:rect l="0" t="0" r="0" b="0"/>
            <a:pathLst>
              <a:path w="3929634" h="2647874">
                <a:moveTo>
                  <a:pt x="0" y="57245"/>
                </a:moveTo>
                <a:cubicBezTo>
                  <a:pt x="0" y="25622"/>
                  <a:pt x="25622" y="0"/>
                  <a:pt x="57236" y="0"/>
                </a:cubicBezTo>
                <a:lnTo>
                  <a:pt x="3872389" y="0"/>
                </a:lnTo>
                <a:cubicBezTo>
                  <a:pt x="3904012" y="0"/>
                  <a:pt x="3929634" y="25622"/>
                  <a:pt x="3929634" y="57245"/>
                </a:cubicBezTo>
                <a:lnTo>
                  <a:pt x="3929634" y="2590628"/>
                </a:lnTo>
                <a:cubicBezTo>
                  <a:pt x="3929634" y="2622242"/>
                  <a:pt x="3904012" y="2647874"/>
                  <a:pt x="3872389" y="2647874"/>
                </a:cubicBezTo>
                <a:lnTo>
                  <a:pt x="57236" y="2647874"/>
                </a:lnTo>
                <a:cubicBezTo>
                  <a:pt x="25622" y="2647874"/>
                  <a:pt x="0" y="2622242"/>
                  <a:pt x="0" y="2590628"/>
                </a:cubicBezTo>
                <a:lnTo>
                  <a:pt x="0" y="57245"/>
                </a:lnTo>
              </a:path>
            </a:pathLst>
          </a:custGeom>
          <a:solidFill>
            <a:srgbClr val="FFFFFF"/>
          </a:solidFill>
          <a:ln w="10716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A8CD0ECC-FA4C-44EF-A6AD-FA6A9A76B318}"/>
              </a:ext>
            </a:extLst>
          </p:cNvPr>
          <p:cNvSpPr>
            <a:spLocks noGrp="1"/>
          </p:cNvSpPr>
          <p:nvPr/>
        </p:nvSpPr>
        <p:spPr>
          <a:xfrm>
            <a:off x="4608576" y="1625727"/>
            <a:ext cx="4073652" cy="2647874"/>
          </a:xfrm>
          <a:custGeom>
            <a:avLst/>
            <a:gdLst/>
            <a:ahLst/>
            <a:cxnLst/>
            <a:rect l="0" t="0" r="0" b="0"/>
            <a:pathLst>
              <a:path w="4073652" h="2647874">
                <a:moveTo>
                  <a:pt x="0" y="57245"/>
                </a:moveTo>
                <a:cubicBezTo>
                  <a:pt x="0" y="25622"/>
                  <a:pt x="25622" y="0"/>
                  <a:pt x="57245" y="0"/>
                </a:cubicBezTo>
                <a:lnTo>
                  <a:pt x="4016407" y="0"/>
                </a:lnTo>
                <a:cubicBezTo>
                  <a:pt x="4048030" y="0"/>
                  <a:pt x="4073652" y="25622"/>
                  <a:pt x="4073652" y="57245"/>
                </a:cubicBezTo>
                <a:lnTo>
                  <a:pt x="4073652" y="2590628"/>
                </a:lnTo>
                <a:cubicBezTo>
                  <a:pt x="4073652" y="2622242"/>
                  <a:pt x="4048030" y="2647874"/>
                  <a:pt x="4016407" y="2647874"/>
                </a:cubicBezTo>
                <a:lnTo>
                  <a:pt x="57245" y="2647874"/>
                </a:lnTo>
                <a:cubicBezTo>
                  <a:pt x="25622" y="2647874"/>
                  <a:pt x="0" y="2622242"/>
                  <a:pt x="0" y="2590628"/>
                </a:cubicBezTo>
                <a:lnTo>
                  <a:pt x="0" y="57245"/>
                </a:lnTo>
              </a:path>
            </a:pathLst>
          </a:custGeom>
          <a:solidFill>
            <a:srgbClr val="FFFFFF"/>
          </a:solidFill>
          <a:ln w="10716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12E1E-CBD9-4C6B-87A1-01085C08A7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sp>
        <p:nvSpPr>
          <p:cNvPr id="5" name="Same prompt, two sources">
            <a:extLst>
              <a:ext uri="{FF2B5EF4-FFF2-40B4-BE49-F238E27FC236}">
                <a16:creationId xmlns:a16="http://schemas.microsoft.com/office/drawing/2014/main" id="{FEB17F2B-F6CE-480D-82C9-B9BDEE589389}"/>
              </a:ext>
            </a:extLst>
          </p:cNvPr>
          <p:cNvSpPr>
            <a:spLocks noGrp="1"/>
          </p:cNvSpPr>
          <p:nvPr/>
        </p:nvSpPr>
        <p:spPr>
          <a:xfrm>
            <a:off x="525942" y="340791"/>
            <a:ext cx="4377503" cy="4258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Same prompt, two sources</a:t>
            </a:r>
          </a:p>
        </p:txBody>
      </p:sp>
      <p:sp>
        <p:nvSpPr>
          <p:cNvPr id="6" name="05">
            <a:extLst>
              <a:ext uri="{FF2B5EF4-FFF2-40B4-BE49-F238E27FC236}">
                <a16:creationId xmlns:a16="http://schemas.microsoft.com/office/drawing/2014/main" id="{0AC3C8E6-D3A4-4D98-8400-AA29E331962E}"/>
              </a:ext>
            </a:extLst>
          </p:cNvPr>
          <p:cNvSpPr>
            <a:spLocks noGrp="1"/>
          </p:cNvSpPr>
          <p:nvPr/>
        </p:nvSpPr>
        <p:spPr>
          <a:xfrm>
            <a:off x="525942" y="4856879"/>
            <a:ext cx="199222" cy="192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  <p:sp>
        <p:nvSpPr>
          <p:cNvPr id="7" name="“Who has experience with winter road safety modeling?”">
            <a:extLst>
              <a:ext uri="{FF2B5EF4-FFF2-40B4-BE49-F238E27FC236}">
                <a16:creationId xmlns:a16="http://schemas.microsoft.com/office/drawing/2014/main" id="{E6E33B55-BF42-44C0-9C28-CA4F022762A9}"/>
              </a:ext>
            </a:extLst>
          </p:cNvPr>
          <p:cNvSpPr>
            <a:spLocks noGrp="1"/>
          </p:cNvSpPr>
          <p:nvPr/>
        </p:nvSpPr>
        <p:spPr>
          <a:xfrm>
            <a:off x="597589" y="1106749"/>
            <a:ext cx="6274154" cy="3092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“Who has experience with winter road safety modeling?”</a:t>
            </a:r>
          </a:p>
        </p:txBody>
      </p:sp>
      <p:sp>
        <p:nvSpPr>
          <p:cNvPr id="8" name="PDF RÉSUMÉ">
            <a:extLst>
              <a:ext uri="{FF2B5EF4-FFF2-40B4-BE49-F238E27FC236}">
                <a16:creationId xmlns:a16="http://schemas.microsoft.com/office/drawing/2014/main" id="{641783C3-3F2B-4C23-B55C-0F5F81DB955C}"/>
              </a:ext>
            </a:extLst>
          </p:cNvPr>
          <p:cNvSpPr>
            <a:spLocks noGrp="1"/>
          </p:cNvSpPr>
          <p:nvPr/>
        </p:nvSpPr>
        <p:spPr>
          <a:xfrm>
            <a:off x="697620" y="1808158"/>
            <a:ext cx="1054475" cy="2427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82" b="1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082" b="1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1082" b="1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PDF RÉSUMÉ</a:t>
            </a:r>
          </a:p>
        </p:txBody>
      </p:sp>
      <p:sp>
        <p:nvSpPr>
          <p:cNvPr id="9" name="“…Summer 2025, assisted Prof. R. on ">
            <a:extLst>
              <a:ext uri="{FF2B5EF4-FFF2-40B4-BE49-F238E27FC236}">
                <a16:creationId xmlns:a16="http://schemas.microsoft.com/office/drawing/2014/main" id="{EB45594D-18B5-4F25-8954-6042148C4852}"/>
              </a:ext>
            </a:extLst>
          </p:cNvPr>
          <p:cNvSpPr>
            <a:spLocks noGrp="1"/>
          </p:cNvSpPr>
          <p:nvPr/>
        </p:nvSpPr>
        <p:spPr>
          <a:xfrm>
            <a:off x="697620" y="2194382"/>
            <a:ext cx="3504822" cy="29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06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406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“…Summer 2025, assisted Prof. R. on </a:t>
            </a:r>
          </a:p>
        </p:txBody>
      </p:sp>
      <p:sp>
        <p:nvSpPr>
          <p:cNvPr id="10" name="DOT project. Ran regression analyses ">
            <a:extLst>
              <a:ext uri="{FF2B5EF4-FFF2-40B4-BE49-F238E27FC236}">
                <a16:creationId xmlns:a16="http://schemas.microsoft.com/office/drawing/2014/main" id="{361FDFCF-A19E-4B9A-9E4F-EF95EF984D7D}"/>
              </a:ext>
            </a:extLst>
          </p:cNvPr>
          <p:cNvSpPr>
            <a:spLocks noGrp="1"/>
          </p:cNvSpPr>
          <p:nvPr/>
        </p:nvSpPr>
        <p:spPr>
          <a:xfrm>
            <a:off x="697620" y="2407170"/>
            <a:ext cx="3511784" cy="29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06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406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DOT project. Ran regression analyses </a:t>
            </a:r>
          </a:p>
        </p:txBody>
      </p:sp>
      <p:sp>
        <p:nvSpPr>
          <p:cNvPr id="11" name="in R; cleaned crash data; presented ">
            <a:extLst>
              <a:ext uri="{FF2B5EF4-FFF2-40B4-BE49-F238E27FC236}">
                <a16:creationId xmlns:a16="http://schemas.microsoft.com/office/drawing/2014/main" id="{2E3EDD6C-427F-48FD-B01F-3A6703461E4A}"/>
              </a:ext>
            </a:extLst>
          </p:cNvPr>
          <p:cNvSpPr>
            <a:spLocks noGrp="1"/>
          </p:cNvSpPr>
          <p:nvPr/>
        </p:nvSpPr>
        <p:spPr>
          <a:xfrm>
            <a:off x="697620" y="2620244"/>
            <a:ext cx="3353950" cy="29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06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406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in R; cleaned crash data; presented </a:t>
            </a:r>
          </a:p>
        </p:txBody>
      </p:sp>
      <p:sp>
        <p:nvSpPr>
          <p:cNvPr id="12" name="to stakeholders…”">
            <a:extLst>
              <a:ext uri="{FF2B5EF4-FFF2-40B4-BE49-F238E27FC236}">
                <a16:creationId xmlns:a16="http://schemas.microsoft.com/office/drawing/2014/main" id="{B7901A1C-A97F-4FBE-A4DD-49E321C01F28}"/>
              </a:ext>
            </a:extLst>
          </p:cNvPr>
          <p:cNvSpPr>
            <a:spLocks noGrp="1"/>
          </p:cNvSpPr>
          <p:nvPr/>
        </p:nvSpPr>
        <p:spPr>
          <a:xfrm>
            <a:off x="697620" y="2839986"/>
            <a:ext cx="1666332" cy="29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06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406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to stakeholders…”</a:t>
            </a:r>
          </a:p>
        </p:txBody>
      </p:sp>
      <p:sp>
        <p:nvSpPr>
          <p:cNvPr id="13" name="“Winter” never appears.">
            <a:extLst>
              <a:ext uri="{FF2B5EF4-FFF2-40B4-BE49-F238E27FC236}">
                <a16:creationId xmlns:a16="http://schemas.microsoft.com/office/drawing/2014/main" id="{A83F163A-EA20-4D7D-9621-CCDE66721561}"/>
              </a:ext>
            </a:extLst>
          </p:cNvPr>
          <p:cNvSpPr>
            <a:spLocks noGrp="1"/>
          </p:cNvSpPr>
          <p:nvPr/>
        </p:nvSpPr>
        <p:spPr>
          <a:xfrm>
            <a:off x="697620" y="3360569"/>
            <a:ext cx="1899543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19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“Winter” never appears.</a:t>
            </a:r>
          </a:p>
        </p:txBody>
      </p:sp>
      <p:sp>
        <p:nvSpPr>
          <p:cNvPr id="14" name="The agency and project are unclear.">
            <a:extLst>
              <a:ext uri="{FF2B5EF4-FFF2-40B4-BE49-F238E27FC236}">
                <a16:creationId xmlns:a16="http://schemas.microsoft.com/office/drawing/2014/main" id="{DE76464A-6B28-40A5-8F81-47837FF99692}"/>
              </a:ext>
            </a:extLst>
          </p:cNvPr>
          <p:cNvSpPr>
            <a:spLocks noGrp="1"/>
          </p:cNvSpPr>
          <p:nvPr/>
        </p:nvSpPr>
        <p:spPr>
          <a:xfrm>
            <a:off x="697620" y="3539163"/>
            <a:ext cx="2790360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19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The agency and project are unclear.</a:t>
            </a:r>
          </a:p>
        </p:txBody>
      </p:sp>
      <p:sp>
        <p:nvSpPr>
          <p:cNvPr id="15" name="No direct link lets someone check the work.">
            <a:extLst>
              <a:ext uri="{FF2B5EF4-FFF2-40B4-BE49-F238E27FC236}">
                <a16:creationId xmlns:a16="http://schemas.microsoft.com/office/drawing/2014/main" id="{96371377-7410-4D38-82CA-8203FA92F123}"/>
              </a:ext>
            </a:extLst>
          </p:cNvPr>
          <p:cNvSpPr>
            <a:spLocks noGrp="1"/>
          </p:cNvSpPr>
          <p:nvPr/>
        </p:nvSpPr>
        <p:spPr>
          <a:xfrm>
            <a:off x="697620" y="3717947"/>
            <a:ext cx="3386808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19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No direct link lets someone check the work.</a:t>
            </a:r>
          </a:p>
        </p:txBody>
      </p:sp>
      <p:sp>
        <p:nvSpPr>
          <p:cNvPr id="16" name="SBT: STRUCTURED RECORD">
            <a:extLst>
              <a:ext uri="{FF2B5EF4-FFF2-40B4-BE49-F238E27FC236}">
                <a16:creationId xmlns:a16="http://schemas.microsoft.com/office/drawing/2014/main" id="{27570BCF-812B-4C0A-8328-B02D56159E45}"/>
              </a:ext>
            </a:extLst>
          </p:cNvPr>
          <p:cNvSpPr>
            <a:spLocks noGrp="1"/>
          </p:cNvSpPr>
          <p:nvPr/>
        </p:nvSpPr>
        <p:spPr>
          <a:xfrm>
            <a:off x="4857369" y="1808158"/>
            <a:ext cx="2164926" cy="2427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82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082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082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SBT: STRUCTURED RECORD</a:t>
            </a:r>
          </a:p>
        </p:txBody>
      </p:sp>
      <p:sp>
        <p:nvSpPr>
          <p:cNvPr id="17" name="Claim: Built a crash-risk model for icy ">
            <a:extLst>
              <a:ext uri="{FF2B5EF4-FFF2-40B4-BE49-F238E27FC236}">
                <a16:creationId xmlns:a16="http://schemas.microsoft.com/office/drawing/2014/main" id="{771A6F03-01B7-40F9-A49A-622084E14356}"/>
              </a:ext>
            </a:extLst>
          </p:cNvPr>
          <p:cNvSpPr>
            <a:spLocks noGrp="1"/>
          </p:cNvSpPr>
          <p:nvPr/>
        </p:nvSpPr>
        <p:spPr>
          <a:xfrm>
            <a:off x="4857369" y="2186877"/>
            <a:ext cx="3267098" cy="2762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0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30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300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Claim: Built a crash-risk model for icy </a:t>
            </a:r>
          </a:p>
        </p:txBody>
      </p:sp>
      <p:sp>
        <p:nvSpPr>
          <p:cNvPr id="18" name="road segments">
            <a:extLst>
              <a:ext uri="{FF2B5EF4-FFF2-40B4-BE49-F238E27FC236}">
                <a16:creationId xmlns:a16="http://schemas.microsoft.com/office/drawing/2014/main" id="{13FA8C5F-9EE2-41AC-BBCE-2D025F7ED333}"/>
              </a:ext>
            </a:extLst>
          </p:cNvPr>
          <p:cNvSpPr>
            <a:spLocks noGrp="1"/>
          </p:cNvSpPr>
          <p:nvPr/>
        </p:nvSpPr>
        <p:spPr>
          <a:xfrm>
            <a:off x="4857369" y="2386474"/>
            <a:ext cx="1299734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road segments</a:t>
            </a:r>
          </a:p>
        </p:txBody>
      </p:sp>
      <p:sp>
        <p:nvSpPr>
          <p:cNvPr id="19" name="Topic: Winter road safety; crash modeling">
            <a:extLst>
              <a:ext uri="{FF2B5EF4-FFF2-40B4-BE49-F238E27FC236}">
                <a16:creationId xmlns:a16="http://schemas.microsoft.com/office/drawing/2014/main" id="{32DA99FF-30BD-4913-A3F2-23A2EDCF3705}"/>
              </a:ext>
            </a:extLst>
          </p:cNvPr>
          <p:cNvSpPr>
            <a:spLocks noGrp="1"/>
          </p:cNvSpPr>
          <p:nvPr/>
        </p:nvSpPr>
        <p:spPr>
          <a:xfrm>
            <a:off x="4857369" y="2578689"/>
            <a:ext cx="3543072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Topic: Winter road safety; crash modeling</a:t>
            </a:r>
          </a:p>
        </p:txBody>
      </p:sp>
      <p:sp>
        <p:nvSpPr>
          <p:cNvPr id="20" name="Evidence: Project report (link)">
            <a:extLst>
              <a:ext uri="{FF2B5EF4-FFF2-40B4-BE49-F238E27FC236}">
                <a16:creationId xmlns:a16="http://schemas.microsoft.com/office/drawing/2014/main" id="{123AC534-D778-4514-9B2E-5B1A220BD86D}"/>
              </a:ext>
            </a:extLst>
          </p:cNvPr>
          <p:cNvSpPr>
            <a:spLocks noGrp="1"/>
          </p:cNvSpPr>
          <p:nvPr/>
        </p:nvSpPr>
        <p:spPr>
          <a:xfrm>
            <a:off x="4857369" y="2777857"/>
            <a:ext cx="2576343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Evidence: Project report (link)</a:t>
            </a:r>
          </a:p>
        </p:txBody>
      </p:sp>
      <p:sp>
        <p:nvSpPr>
          <p:cNvPr id="21" name="Dates: Jun 2025 - Aug 2025">
            <a:extLst>
              <a:ext uri="{FF2B5EF4-FFF2-40B4-BE49-F238E27FC236}">
                <a16:creationId xmlns:a16="http://schemas.microsoft.com/office/drawing/2014/main" id="{AADBF5EE-3A74-4984-A08F-02892CB2AB00}"/>
              </a:ext>
            </a:extLst>
          </p:cNvPr>
          <p:cNvSpPr>
            <a:spLocks noGrp="1"/>
          </p:cNvSpPr>
          <p:nvPr/>
        </p:nvSpPr>
        <p:spPr>
          <a:xfrm>
            <a:off x="4857369" y="2977215"/>
            <a:ext cx="2431678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Dates: Jun 2025 - Aug 2025</a:t>
            </a:r>
          </a:p>
        </p:txBody>
      </p:sp>
      <p:sp>
        <p:nvSpPr>
          <p:cNvPr id="22" name="Validated by: Faculty advisor">
            <a:extLst>
              <a:ext uri="{FF2B5EF4-FFF2-40B4-BE49-F238E27FC236}">
                <a16:creationId xmlns:a16="http://schemas.microsoft.com/office/drawing/2014/main" id="{3B2CD5AD-3525-4EAF-866E-D2F76C8F06A1}"/>
              </a:ext>
            </a:extLst>
          </p:cNvPr>
          <p:cNvSpPr>
            <a:spLocks noGrp="1"/>
          </p:cNvSpPr>
          <p:nvPr/>
        </p:nvSpPr>
        <p:spPr>
          <a:xfrm>
            <a:off x="4857369" y="3176287"/>
            <a:ext cx="2462446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Validated by: Faculty advisor</a:t>
            </a:r>
          </a:p>
        </p:txBody>
      </p:sp>
      <p:sp>
        <p:nvSpPr>
          <p:cNvPr id="23" name="The topic is explicit, the evidence is ">
            <a:extLst>
              <a:ext uri="{FF2B5EF4-FFF2-40B4-BE49-F238E27FC236}">
                <a16:creationId xmlns:a16="http://schemas.microsoft.com/office/drawing/2014/main" id="{8B56BB85-CA9C-4822-95C8-EDBBD117FBBB}"/>
              </a:ext>
            </a:extLst>
          </p:cNvPr>
          <p:cNvSpPr>
            <a:spLocks noGrp="1"/>
          </p:cNvSpPr>
          <p:nvPr/>
        </p:nvSpPr>
        <p:spPr>
          <a:xfrm>
            <a:off x="4857369" y="3689719"/>
            <a:ext cx="3275293" cy="2676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The topic is explicit, the evidence is </a:t>
            </a:r>
          </a:p>
        </p:txBody>
      </p:sp>
      <p:sp>
        <p:nvSpPr>
          <p:cNvPr id="24" name="linked, and the reviewer is identified.">
            <a:extLst>
              <a:ext uri="{FF2B5EF4-FFF2-40B4-BE49-F238E27FC236}">
                <a16:creationId xmlns:a16="http://schemas.microsoft.com/office/drawing/2014/main" id="{AB04154B-E82B-48A0-9628-E38926488A47}"/>
              </a:ext>
            </a:extLst>
          </p:cNvPr>
          <p:cNvSpPr>
            <a:spLocks noGrp="1"/>
          </p:cNvSpPr>
          <p:nvPr/>
        </p:nvSpPr>
        <p:spPr>
          <a:xfrm>
            <a:off x="4857369" y="3875171"/>
            <a:ext cx="3374659" cy="2676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linked, and the reviewer is identified.</a:t>
            </a:r>
          </a:p>
        </p:txBody>
      </p:sp>
    </p:spTree>
    <p:extLst>
      <p:ext uri="{BB962C8B-B14F-4D97-AF65-F5344CB8AC3E}">
        <p14:creationId xmlns:p14="http://schemas.microsoft.com/office/powerpoint/2010/main" val="862904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9DF5289E-EAD8-4B98-8B34-7B2CA2F0FB00}"/>
              </a:ext>
            </a:extLst>
          </p:cNvPr>
          <p:cNvSpPr>
            <a:spLocks noGrp="1"/>
          </p:cNvSpPr>
          <p:nvPr/>
        </p:nvSpPr>
        <p:spPr>
          <a:xfrm>
            <a:off x="0" y="-47"/>
            <a:ext cx="9141714" cy="5144834"/>
          </a:xfrm>
          <a:custGeom>
            <a:avLst/>
            <a:gdLst/>
            <a:ahLst/>
            <a:cxnLst/>
            <a:rect l="0" t="0" r="0" b="0"/>
            <a:pathLst>
              <a:path w="9141714" h="5144834">
                <a:moveTo>
                  <a:pt x="0" y="0"/>
                </a:moveTo>
                <a:lnTo>
                  <a:pt x="9141714" y="0"/>
                </a:lnTo>
                <a:lnTo>
                  <a:pt x="9141714" y="5144834"/>
                </a:lnTo>
                <a:lnTo>
                  <a:pt x="0" y="5144834"/>
                </a:lnTo>
                <a:close/>
              </a:path>
            </a:pathLst>
          </a:cu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B0E25E-D363-43AF-9CF6-056FAE8869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E3747A-93E0-4515-B4C9-901B3C5894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" r="52"/>
          <a:stretch>
            <a:fillRect/>
          </a:stretch>
        </p:blipFill>
        <p:spPr>
          <a:xfrm>
            <a:off x="473202" y="1275883"/>
            <a:ext cx="2215134" cy="29565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B92BB8-920B-4DBA-B111-C8D32267E2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" b="20"/>
          <a:stretch>
            <a:fillRect/>
          </a:stretch>
        </p:blipFill>
        <p:spPr>
          <a:xfrm>
            <a:off x="2880360" y="1214152"/>
            <a:ext cx="3477006" cy="2606707"/>
          </a:xfrm>
          <a:prstGeom prst="rect">
            <a:avLst/>
          </a:prstGeom>
        </p:spPr>
      </p:pic>
      <p:sp>
        <p:nvSpPr>
          <p:cNvPr id="5" name="A cookie package label makes the object’s ">
            <a:extLst>
              <a:ext uri="{FF2B5EF4-FFF2-40B4-BE49-F238E27FC236}">
                <a16:creationId xmlns:a16="http://schemas.microsoft.com/office/drawing/2014/main" id="{87AA80C4-E6D4-4C0C-A8D2-A3D0C5F65933}"/>
              </a:ext>
            </a:extLst>
          </p:cNvPr>
          <p:cNvSpPr>
            <a:spLocks noGrp="1"/>
          </p:cNvSpPr>
          <p:nvPr/>
        </p:nvSpPr>
        <p:spPr>
          <a:xfrm>
            <a:off x="525942" y="340791"/>
            <a:ext cx="6962216" cy="4258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A cookie package label makes the object’s </a:t>
            </a:r>
          </a:p>
        </p:txBody>
      </p:sp>
      <p:sp>
        <p:nvSpPr>
          <p:cNvPr id="6" name="content identifiable">
            <a:extLst>
              <a:ext uri="{FF2B5EF4-FFF2-40B4-BE49-F238E27FC236}">
                <a16:creationId xmlns:a16="http://schemas.microsoft.com/office/drawing/2014/main" id="{58F0E792-C208-41CC-9EE7-F49213290516}"/>
              </a:ext>
            </a:extLst>
          </p:cNvPr>
          <p:cNvSpPr>
            <a:spLocks noGrp="1"/>
          </p:cNvSpPr>
          <p:nvPr/>
        </p:nvSpPr>
        <p:spPr>
          <a:xfrm>
            <a:off x="525942" y="684358"/>
            <a:ext cx="3211533" cy="4258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content identifiable</a:t>
            </a:r>
          </a:p>
        </p:txBody>
      </p:sp>
      <p:sp>
        <p:nvSpPr>
          <p:cNvPr id="7" name="06">
            <a:extLst>
              <a:ext uri="{FF2B5EF4-FFF2-40B4-BE49-F238E27FC236}">
                <a16:creationId xmlns:a16="http://schemas.microsoft.com/office/drawing/2014/main" id="{5B38C7F9-68BC-4F31-95A2-3554834AE619}"/>
              </a:ext>
            </a:extLst>
          </p:cNvPr>
          <p:cNvSpPr>
            <a:spLocks noGrp="1"/>
          </p:cNvSpPr>
          <p:nvPr/>
        </p:nvSpPr>
        <p:spPr>
          <a:xfrm>
            <a:off x="525942" y="4856879"/>
            <a:ext cx="199222" cy="192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  <p:sp>
        <p:nvSpPr>
          <p:cNvPr id="8" name="Product">
            <a:extLst>
              <a:ext uri="{FF2B5EF4-FFF2-40B4-BE49-F238E27FC236}">
                <a16:creationId xmlns:a16="http://schemas.microsoft.com/office/drawing/2014/main" id="{44F18EEF-8422-4353-9073-70D9B43762B6}"/>
              </a:ext>
            </a:extLst>
          </p:cNvPr>
          <p:cNvSpPr>
            <a:spLocks noGrp="1"/>
          </p:cNvSpPr>
          <p:nvPr/>
        </p:nvSpPr>
        <p:spPr>
          <a:xfrm>
            <a:off x="6658451" y="1321442"/>
            <a:ext cx="919268" cy="3092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Product</a:t>
            </a:r>
          </a:p>
        </p:txBody>
      </p:sp>
      <p:sp>
        <p:nvSpPr>
          <p:cNvPr id="9" name="Ingredients">
            <a:extLst>
              <a:ext uri="{FF2B5EF4-FFF2-40B4-BE49-F238E27FC236}">
                <a16:creationId xmlns:a16="http://schemas.microsoft.com/office/drawing/2014/main" id="{6B314B3D-96A4-4B81-B689-409810BC5F66}"/>
              </a:ext>
            </a:extLst>
          </p:cNvPr>
          <p:cNvSpPr>
            <a:spLocks noGrp="1"/>
          </p:cNvSpPr>
          <p:nvPr/>
        </p:nvSpPr>
        <p:spPr>
          <a:xfrm>
            <a:off x="6658451" y="1554900"/>
            <a:ext cx="1343784" cy="3092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Ingredients</a:t>
            </a:r>
          </a:p>
        </p:txBody>
      </p:sp>
      <p:sp>
        <p:nvSpPr>
          <p:cNvPr id="10" name="Allergen notices">
            <a:extLst>
              <a:ext uri="{FF2B5EF4-FFF2-40B4-BE49-F238E27FC236}">
                <a16:creationId xmlns:a16="http://schemas.microsoft.com/office/drawing/2014/main" id="{3F40C233-8DBA-4584-BA38-ECE67426B52F}"/>
              </a:ext>
            </a:extLst>
          </p:cNvPr>
          <p:cNvSpPr>
            <a:spLocks noGrp="1"/>
          </p:cNvSpPr>
          <p:nvPr/>
        </p:nvSpPr>
        <p:spPr>
          <a:xfrm>
            <a:off x="6658451" y="1781690"/>
            <a:ext cx="1824631" cy="3092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Allergen notices</a:t>
            </a:r>
          </a:p>
        </p:txBody>
      </p:sp>
      <p:sp>
        <p:nvSpPr>
          <p:cNvPr id="11" name="Manufacturer">
            <a:extLst>
              <a:ext uri="{FF2B5EF4-FFF2-40B4-BE49-F238E27FC236}">
                <a16:creationId xmlns:a16="http://schemas.microsoft.com/office/drawing/2014/main" id="{42A63716-3894-42EB-A2B2-67A7700C4E0D}"/>
              </a:ext>
            </a:extLst>
          </p:cNvPr>
          <p:cNvSpPr>
            <a:spLocks noGrp="1"/>
          </p:cNvSpPr>
          <p:nvPr/>
        </p:nvSpPr>
        <p:spPr>
          <a:xfrm>
            <a:off x="6658451" y="2015053"/>
            <a:ext cx="1530662" cy="3092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Manufacturer</a:t>
            </a:r>
          </a:p>
        </p:txBody>
      </p:sp>
      <p:sp>
        <p:nvSpPr>
          <p:cNvPr id="12" name="Lot and best-by">
            <a:extLst>
              <a:ext uri="{FF2B5EF4-FFF2-40B4-BE49-F238E27FC236}">
                <a16:creationId xmlns:a16="http://schemas.microsoft.com/office/drawing/2014/main" id="{5E1B8B87-FACB-4392-A81F-844EF4F10A9E}"/>
              </a:ext>
            </a:extLst>
          </p:cNvPr>
          <p:cNvSpPr>
            <a:spLocks noGrp="1"/>
          </p:cNvSpPr>
          <p:nvPr/>
        </p:nvSpPr>
        <p:spPr>
          <a:xfrm>
            <a:off x="6658451" y="2248701"/>
            <a:ext cx="1771800" cy="3092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Lot and best-by</a:t>
            </a:r>
          </a:p>
        </p:txBody>
      </p:sp>
      <p:sp>
        <p:nvSpPr>
          <p:cNvPr id="13" name="Each descriptor ">
            <a:extLst>
              <a:ext uri="{FF2B5EF4-FFF2-40B4-BE49-F238E27FC236}">
                <a16:creationId xmlns:a16="http://schemas.microsoft.com/office/drawing/2014/main" id="{FAC4EB6D-C420-49C9-A952-18A2C34F39A7}"/>
              </a:ext>
            </a:extLst>
          </p:cNvPr>
          <p:cNvSpPr>
            <a:spLocks noGrp="1"/>
          </p:cNvSpPr>
          <p:nvPr/>
        </p:nvSpPr>
        <p:spPr>
          <a:xfrm>
            <a:off x="6651307" y="3231742"/>
            <a:ext cx="1886799" cy="3175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8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68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568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Each descriptor </a:t>
            </a:r>
          </a:p>
        </p:txBody>
      </p:sp>
      <p:sp>
        <p:nvSpPr>
          <p:cNvPr id="14" name="tells a buyer ">
            <a:extLst>
              <a:ext uri="{FF2B5EF4-FFF2-40B4-BE49-F238E27FC236}">
                <a16:creationId xmlns:a16="http://schemas.microsoft.com/office/drawing/2014/main" id="{930BAC40-AD60-47A4-AF2D-A2F3573C4D1A}"/>
              </a:ext>
            </a:extLst>
          </p:cNvPr>
          <p:cNvSpPr>
            <a:spLocks noGrp="1"/>
          </p:cNvSpPr>
          <p:nvPr/>
        </p:nvSpPr>
        <p:spPr>
          <a:xfrm>
            <a:off x="6651307" y="3472248"/>
            <a:ext cx="1536946" cy="3175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8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68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568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tells a buyer </a:t>
            </a:r>
          </a:p>
        </p:txBody>
      </p:sp>
      <p:sp>
        <p:nvSpPr>
          <p:cNvPr id="15" name="what this object ">
            <a:extLst>
              <a:ext uri="{FF2B5EF4-FFF2-40B4-BE49-F238E27FC236}">
                <a16:creationId xmlns:a16="http://schemas.microsoft.com/office/drawing/2014/main" id="{5C745A0C-99D7-4DF5-9235-40BF243CCE9A}"/>
              </a:ext>
            </a:extLst>
          </p:cNvPr>
          <p:cNvSpPr>
            <a:spLocks noGrp="1"/>
          </p:cNvSpPr>
          <p:nvPr/>
        </p:nvSpPr>
        <p:spPr>
          <a:xfrm>
            <a:off x="6651307" y="3712469"/>
            <a:ext cx="1968837" cy="3175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8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68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568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what this object </a:t>
            </a:r>
          </a:p>
        </p:txBody>
      </p:sp>
      <p:sp>
        <p:nvSpPr>
          <p:cNvPr id="16" name="is.">
            <a:extLst>
              <a:ext uri="{FF2B5EF4-FFF2-40B4-BE49-F238E27FC236}">
                <a16:creationId xmlns:a16="http://schemas.microsoft.com/office/drawing/2014/main" id="{C64D83C5-B44B-44C8-AD9B-18F21270A37E}"/>
              </a:ext>
            </a:extLst>
          </p:cNvPr>
          <p:cNvSpPr>
            <a:spLocks noGrp="1"/>
          </p:cNvSpPr>
          <p:nvPr/>
        </p:nvSpPr>
        <p:spPr>
          <a:xfrm>
            <a:off x="6651307" y="3952975"/>
            <a:ext cx="333264" cy="3175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8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68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568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is.</a:t>
            </a:r>
          </a:p>
        </p:txBody>
      </p:sp>
    </p:spTree>
    <p:extLst>
      <p:ext uri="{BB962C8B-B14F-4D97-AF65-F5344CB8AC3E}">
        <p14:creationId xmlns:p14="http://schemas.microsoft.com/office/powerpoint/2010/main" val="542184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7">
            <a:extLst>
              <a:ext uri="{FF2B5EF4-FFF2-40B4-BE49-F238E27FC236}">
                <a16:creationId xmlns:a16="http://schemas.microsoft.com/office/drawing/2014/main" id="{F1004650-137B-453A-8769-07D282AFCE2B}"/>
              </a:ext>
            </a:extLst>
          </p:cNvPr>
          <p:cNvSpPr>
            <a:spLocks noGrp="1"/>
          </p:cNvSpPr>
          <p:nvPr/>
        </p:nvSpPr>
        <p:spPr>
          <a:xfrm>
            <a:off x="0" y="-47"/>
            <a:ext cx="9141714" cy="5144834"/>
          </a:xfrm>
          <a:custGeom>
            <a:avLst/>
            <a:gdLst/>
            <a:ahLst/>
            <a:cxnLst/>
            <a:rect l="0" t="0" r="0" b="0"/>
            <a:pathLst>
              <a:path w="9141714" h="5144834">
                <a:moveTo>
                  <a:pt x="0" y="0"/>
                </a:moveTo>
                <a:lnTo>
                  <a:pt x="9141714" y="0"/>
                </a:lnTo>
                <a:lnTo>
                  <a:pt x="9141714" y="5144834"/>
                </a:lnTo>
                <a:lnTo>
                  <a:pt x="0" y="5144834"/>
                </a:lnTo>
                <a:close/>
              </a:path>
            </a:pathLst>
          </a:cu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CA0CE884-C106-4784-908D-2A0F6473562C}"/>
              </a:ext>
            </a:extLst>
          </p:cNvPr>
          <p:cNvSpPr>
            <a:spLocks noGrp="1"/>
          </p:cNvSpPr>
          <p:nvPr/>
        </p:nvSpPr>
        <p:spPr>
          <a:xfrm>
            <a:off x="459486" y="1090708"/>
            <a:ext cx="3998214" cy="2009870"/>
          </a:xfrm>
          <a:custGeom>
            <a:avLst/>
            <a:gdLst/>
            <a:ahLst/>
            <a:cxnLst/>
            <a:rect l="0" t="0" r="0" b="0"/>
            <a:pathLst>
              <a:path w="3998214" h="2009870">
                <a:moveTo>
                  <a:pt x="0" y="57245"/>
                </a:moveTo>
                <a:cubicBezTo>
                  <a:pt x="0" y="25622"/>
                  <a:pt x="25613" y="0"/>
                  <a:pt x="57207" y="0"/>
                </a:cubicBezTo>
                <a:lnTo>
                  <a:pt x="3940969" y="0"/>
                </a:lnTo>
                <a:cubicBezTo>
                  <a:pt x="3972592" y="0"/>
                  <a:pt x="3998214" y="25622"/>
                  <a:pt x="3998214" y="57245"/>
                </a:cubicBezTo>
                <a:lnTo>
                  <a:pt x="3998214" y="1952625"/>
                </a:lnTo>
                <a:cubicBezTo>
                  <a:pt x="3998214" y="1984248"/>
                  <a:pt x="3972592" y="2009870"/>
                  <a:pt x="3940969" y="2009870"/>
                </a:cubicBezTo>
                <a:lnTo>
                  <a:pt x="57207" y="2009870"/>
                </a:lnTo>
                <a:cubicBezTo>
                  <a:pt x="25613" y="2009870"/>
                  <a:pt x="0" y="1984248"/>
                  <a:pt x="0" y="1952625"/>
                </a:cubicBezTo>
                <a:lnTo>
                  <a:pt x="0" y="57245"/>
                </a:lnTo>
              </a:path>
            </a:pathLst>
          </a:custGeom>
          <a:solidFill>
            <a:srgbClr val="FFFFFF"/>
          </a:solidFill>
          <a:ln w="10716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1BC93C-EA3F-4DE1-A407-B13E315BB8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sp>
        <p:nvSpPr>
          <p:cNvPr id="4" name="A machine-readable label travels with the object">
            <a:extLst>
              <a:ext uri="{FF2B5EF4-FFF2-40B4-BE49-F238E27FC236}">
                <a16:creationId xmlns:a16="http://schemas.microsoft.com/office/drawing/2014/main" id="{21EB90C0-C359-4F1B-990F-147AED97CC23}"/>
              </a:ext>
            </a:extLst>
          </p:cNvPr>
          <p:cNvSpPr>
            <a:spLocks noGrp="1"/>
          </p:cNvSpPr>
          <p:nvPr/>
        </p:nvSpPr>
        <p:spPr>
          <a:xfrm>
            <a:off x="525942" y="340791"/>
            <a:ext cx="7895572" cy="4258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A machine-readable label travels with the object</a:t>
            </a:r>
          </a:p>
        </p:txBody>
      </p:sp>
      <p:sp>
        <p:nvSpPr>
          <p:cNvPr id="5" name="07">
            <a:extLst>
              <a:ext uri="{FF2B5EF4-FFF2-40B4-BE49-F238E27FC236}">
                <a16:creationId xmlns:a16="http://schemas.microsoft.com/office/drawing/2014/main" id="{525C80EE-8615-41E3-9100-3937A31D6124}"/>
              </a:ext>
            </a:extLst>
          </p:cNvPr>
          <p:cNvSpPr>
            <a:spLocks noGrp="1"/>
          </p:cNvSpPr>
          <p:nvPr/>
        </p:nvSpPr>
        <p:spPr>
          <a:xfrm>
            <a:off x="525942" y="4856879"/>
            <a:ext cx="199222" cy="192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07</a:t>
            </a:r>
          </a:p>
        </p:txBody>
      </p:sp>
      <p:sp>
        <p:nvSpPr>
          <p:cNvPr id="6" name="ILLUSTRATIVE JSON LABEL">
            <a:extLst>
              <a:ext uri="{FF2B5EF4-FFF2-40B4-BE49-F238E27FC236}">
                <a16:creationId xmlns:a16="http://schemas.microsoft.com/office/drawing/2014/main" id="{9FCB79FD-76F3-4E4C-9FC1-88EDB46709C1}"/>
              </a:ext>
            </a:extLst>
          </p:cNvPr>
          <p:cNvSpPr>
            <a:spLocks noGrp="1"/>
          </p:cNvSpPr>
          <p:nvPr/>
        </p:nvSpPr>
        <p:spPr>
          <a:xfrm>
            <a:off x="697620" y="1278698"/>
            <a:ext cx="2058452" cy="234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ILLUSTRATIVE JSON LABEL</a:t>
            </a:r>
          </a:p>
        </p:txBody>
      </p:sp>
      <p:sp>
        <p:nvSpPr>
          <p:cNvPr id="7" name="{">
            <a:extLst>
              <a:ext uri="{FF2B5EF4-FFF2-40B4-BE49-F238E27FC236}">
                <a16:creationId xmlns:a16="http://schemas.microsoft.com/office/drawing/2014/main" id="{2D6914C4-080A-4403-910E-B2BCAD6B65EB}"/>
              </a:ext>
            </a:extLst>
          </p:cNvPr>
          <p:cNvSpPr>
            <a:spLocks noGrp="1"/>
          </p:cNvSpPr>
          <p:nvPr/>
        </p:nvSpPr>
        <p:spPr>
          <a:xfrm>
            <a:off x="697620" y="1614923"/>
            <a:ext cx="172158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{</a:t>
            </a:r>
          </a:p>
        </p:txBody>
      </p:sp>
      <p:sp>
        <p:nvSpPr>
          <p:cNvPr id="8" name="&quot;product&quot;: &quot;Chocolate quinoa crisps&quot;,">
            <a:extLst>
              <a:ext uri="{FF2B5EF4-FFF2-40B4-BE49-F238E27FC236}">
                <a16:creationId xmlns:a16="http://schemas.microsoft.com/office/drawing/2014/main" id="{3128D21C-6A4A-42B5-9814-3F3D6B5F6DEF}"/>
              </a:ext>
            </a:extLst>
          </p:cNvPr>
          <p:cNvSpPr>
            <a:spLocks noGrp="1"/>
          </p:cNvSpPr>
          <p:nvPr/>
        </p:nvSpPr>
        <p:spPr>
          <a:xfrm>
            <a:off x="802386" y="1793421"/>
            <a:ext cx="2892967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"product": "Chocolate quinoa crisps",</a:t>
            </a:r>
          </a:p>
        </p:txBody>
      </p:sp>
      <p:sp>
        <p:nvSpPr>
          <p:cNvPr id="9" name="&quot;flavor&quot;: &quot;Dark chocolate + sea salt&quot;,">
            <a:extLst>
              <a:ext uri="{FF2B5EF4-FFF2-40B4-BE49-F238E27FC236}">
                <a16:creationId xmlns:a16="http://schemas.microsoft.com/office/drawing/2014/main" id="{EE5F0CE5-EA78-4A4B-9181-0BDFED2DB348}"/>
              </a:ext>
            </a:extLst>
          </p:cNvPr>
          <p:cNvSpPr>
            <a:spLocks noGrp="1"/>
          </p:cNvSpPr>
          <p:nvPr/>
        </p:nvSpPr>
        <p:spPr>
          <a:xfrm>
            <a:off x="802386" y="1972015"/>
            <a:ext cx="2887225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"flavor": "Dark chocolate + sea salt",</a:t>
            </a:r>
          </a:p>
        </p:txBody>
      </p:sp>
      <p:sp>
        <p:nvSpPr>
          <p:cNvPr id="10" name="&quot;manufacturer&quot;: &quot;Undercover Chocolate ">
            <a:extLst>
              <a:ext uri="{FF2B5EF4-FFF2-40B4-BE49-F238E27FC236}">
                <a16:creationId xmlns:a16="http://schemas.microsoft.com/office/drawing/2014/main" id="{523258E8-098D-4A45-B1EF-8093487351A6}"/>
              </a:ext>
            </a:extLst>
          </p:cNvPr>
          <p:cNvSpPr>
            <a:spLocks noGrp="1"/>
          </p:cNvSpPr>
          <p:nvPr/>
        </p:nvSpPr>
        <p:spPr>
          <a:xfrm>
            <a:off x="802386" y="2150513"/>
            <a:ext cx="3132180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"manufacturer": "Undercover Chocolate </a:t>
            </a:r>
          </a:p>
        </p:txBody>
      </p:sp>
      <p:sp>
        <p:nvSpPr>
          <p:cNvPr id="11" name="Co.&quot;,">
            <a:extLst>
              <a:ext uri="{FF2B5EF4-FFF2-40B4-BE49-F238E27FC236}">
                <a16:creationId xmlns:a16="http://schemas.microsoft.com/office/drawing/2014/main" id="{ADFEB6A3-C96A-435D-ADF2-27D03713BA75}"/>
              </a:ext>
            </a:extLst>
          </p:cNvPr>
          <p:cNvSpPr>
            <a:spLocks noGrp="1"/>
          </p:cNvSpPr>
          <p:nvPr/>
        </p:nvSpPr>
        <p:spPr>
          <a:xfrm>
            <a:off x="697620" y="2336156"/>
            <a:ext cx="446732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Co.",</a:t>
            </a:r>
          </a:p>
        </p:txBody>
      </p:sp>
      <p:sp>
        <p:nvSpPr>
          <p:cNvPr id="12" name="&quot;lot_id&quot;: &quot;26189-0401&quot;,">
            <a:extLst>
              <a:ext uri="{FF2B5EF4-FFF2-40B4-BE49-F238E27FC236}">
                <a16:creationId xmlns:a16="http://schemas.microsoft.com/office/drawing/2014/main" id="{B8F90698-2557-480F-95F2-CAF8C1ACD781}"/>
              </a:ext>
            </a:extLst>
          </p:cNvPr>
          <p:cNvSpPr>
            <a:spLocks noGrp="1"/>
          </p:cNvSpPr>
          <p:nvPr/>
        </p:nvSpPr>
        <p:spPr>
          <a:xfrm>
            <a:off x="802386" y="2514749"/>
            <a:ext cx="1878811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"lot_id": "26189-0401",</a:t>
            </a:r>
          </a:p>
        </p:txBody>
      </p:sp>
      <p:sp>
        <p:nvSpPr>
          <p:cNvPr id="13" name="&quot;evidence&quot;: &quot;package label photo&quot;">
            <a:extLst>
              <a:ext uri="{FF2B5EF4-FFF2-40B4-BE49-F238E27FC236}">
                <a16:creationId xmlns:a16="http://schemas.microsoft.com/office/drawing/2014/main" id="{B3B4396D-7770-4E18-9599-8A4E7FCA5B16}"/>
              </a:ext>
            </a:extLst>
          </p:cNvPr>
          <p:cNvSpPr>
            <a:spLocks noGrp="1"/>
          </p:cNvSpPr>
          <p:nvPr/>
        </p:nvSpPr>
        <p:spPr>
          <a:xfrm>
            <a:off x="802386" y="2693248"/>
            <a:ext cx="2654207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"evidence": "package label photo"</a:t>
            </a:r>
          </a:p>
        </p:txBody>
      </p:sp>
      <p:sp>
        <p:nvSpPr>
          <p:cNvPr id="14" name="}">
            <a:extLst>
              <a:ext uri="{FF2B5EF4-FFF2-40B4-BE49-F238E27FC236}">
                <a16:creationId xmlns:a16="http://schemas.microsoft.com/office/drawing/2014/main" id="{D881A036-4F23-4FB9-8298-D1A29308C254}"/>
              </a:ext>
            </a:extLst>
          </p:cNvPr>
          <p:cNvSpPr>
            <a:spLocks noGrp="1"/>
          </p:cNvSpPr>
          <p:nvPr/>
        </p:nvSpPr>
        <p:spPr>
          <a:xfrm>
            <a:off x="697620" y="2871842"/>
            <a:ext cx="172158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0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}</a:t>
            </a:r>
          </a:p>
        </p:txBody>
      </p:sp>
      <p:sp>
        <p:nvSpPr>
          <p:cNvPr id="15" name="•">
            <a:extLst>
              <a:ext uri="{FF2B5EF4-FFF2-40B4-BE49-F238E27FC236}">
                <a16:creationId xmlns:a16="http://schemas.microsoft.com/office/drawing/2014/main" id="{1D1B195F-7C3E-4339-B10C-DD1CCD718593}"/>
              </a:ext>
            </a:extLst>
          </p:cNvPr>
          <p:cNvSpPr>
            <a:spLocks noGrp="1"/>
          </p:cNvSpPr>
          <p:nvPr/>
        </p:nvSpPr>
        <p:spPr>
          <a:xfrm>
            <a:off x="4642866" y="1366832"/>
            <a:ext cx="148292" cy="3058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22" b="0" i="0">
                <a:solidFill>
                  <a:srgbClr val="14213D"/>
                </a:solidFill>
                <a:latin typeface="ArialMT"/>
                <a:ea typeface="ArialMT"/>
                <a:cs typeface="ArialMT"/>
              </a:defRPr>
            </a:defPPr>
          </a:lstStyle>
          <a:p>
            <a:pPr algn="l">
              <a:defRPr sz="1622" b="0" i="0">
                <a:solidFill>
                  <a:srgbClr val="14213D"/>
                </a:solidFill>
                <a:latin typeface="ArialMT"/>
                <a:ea typeface="ArialMT"/>
                <a:cs typeface="ArialMT"/>
              </a:defRPr>
            </a:pPr>
            <a:r>
              <a:rPr sz="1622" b="0" i="0">
                <a:solidFill>
                  <a:srgbClr val="14213D"/>
                </a:solidFill>
                <a:latin typeface="ArialMT"/>
                <a:ea typeface="ArialMT"/>
                <a:cs typeface="ArialMT"/>
              </a:rPr>
              <a:t>•</a:t>
            </a:r>
          </a:p>
        </p:txBody>
      </p:sp>
      <p:sp>
        <p:nvSpPr>
          <p:cNvPr id="16" name="Named fields describe the object.">
            <a:extLst>
              <a:ext uri="{FF2B5EF4-FFF2-40B4-BE49-F238E27FC236}">
                <a16:creationId xmlns:a16="http://schemas.microsoft.com/office/drawing/2014/main" id="{5A404443-7C9B-4B91-AC2D-40CAECE5C00D}"/>
              </a:ext>
            </a:extLst>
          </p:cNvPr>
          <p:cNvSpPr>
            <a:spLocks noGrp="1"/>
          </p:cNvSpPr>
          <p:nvPr/>
        </p:nvSpPr>
        <p:spPr>
          <a:xfrm>
            <a:off x="4900136" y="1346234"/>
            <a:ext cx="3967336" cy="3258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2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2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62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Named fields describe the object.</a:t>
            </a:r>
          </a:p>
        </p:txBody>
      </p:sp>
      <p:sp>
        <p:nvSpPr>
          <p:cNvPr id="17" name="•">
            <a:extLst>
              <a:ext uri="{FF2B5EF4-FFF2-40B4-BE49-F238E27FC236}">
                <a16:creationId xmlns:a16="http://schemas.microsoft.com/office/drawing/2014/main" id="{3161D1A9-D244-4246-BE26-BC1B3A496285}"/>
              </a:ext>
            </a:extLst>
          </p:cNvPr>
          <p:cNvSpPr>
            <a:spLocks noGrp="1"/>
          </p:cNvSpPr>
          <p:nvPr/>
        </p:nvSpPr>
        <p:spPr>
          <a:xfrm>
            <a:off x="4642866" y="1861059"/>
            <a:ext cx="148376" cy="3061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24" b="0" i="0">
                <a:solidFill>
                  <a:srgbClr val="14213D"/>
                </a:solidFill>
                <a:latin typeface="ArialMT"/>
                <a:ea typeface="ArialMT"/>
                <a:cs typeface="ArialMT"/>
              </a:defRPr>
            </a:defPPr>
          </a:lstStyle>
          <a:p>
            <a:pPr algn="l">
              <a:defRPr sz="1624" b="0" i="0">
                <a:solidFill>
                  <a:srgbClr val="14213D"/>
                </a:solidFill>
                <a:latin typeface="ArialMT"/>
                <a:ea typeface="ArialMT"/>
                <a:cs typeface="ArialMT"/>
              </a:defRPr>
            </a:pPr>
            <a:r>
              <a:rPr sz="1624" b="0" i="0">
                <a:solidFill>
                  <a:srgbClr val="14213D"/>
                </a:solidFill>
                <a:latin typeface="ArialMT"/>
                <a:ea typeface="ArialMT"/>
                <a:cs typeface="ArialMT"/>
              </a:rPr>
              <a:t>•</a:t>
            </a:r>
          </a:p>
        </p:txBody>
      </p:sp>
      <p:sp>
        <p:nvSpPr>
          <p:cNvPr id="18" name="Semantic embeddings help find it.">
            <a:extLst>
              <a:ext uri="{FF2B5EF4-FFF2-40B4-BE49-F238E27FC236}">
                <a16:creationId xmlns:a16="http://schemas.microsoft.com/office/drawing/2014/main" id="{66DBB700-31FE-451F-A1C3-0AA564FC5C59}"/>
              </a:ext>
            </a:extLst>
          </p:cNvPr>
          <p:cNvSpPr>
            <a:spLocks noGrp="1"/>
          </p:cNvSpPr>
          <p:nvPr/>
        </p:nvSpPr>
        <p:spPr>
          <a:xfrm>
            <a:off x="4900136" y="1840437"/>
            <a:ext cx="4045036" cy="32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24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24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624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Semantic embeddings help find it.</a:t>
            </a:r>
          </a:p>
        </p:txBody>
      </p:sp>
      <p:sp>
        <p:nvSpPr>
          <p:cNvPr id="19" name="•">
            <a:extLst>
              <a:ext uri="{FF2B5EF4-FFF2-40B4-BE49-F238E27FC236}">
                <a16:creationId xmlns:a16="http://schemas.microsoft.com/office/drawing/2014/main" id="{7359C72B-8C7A-44DB-B573-B95A68A02A8C}"/>
              </a:ext>
            </a:extLst>
          </p:cNvPr>
          <p:cNvSpPr>
            <a:spLocks noGrp="1"/>
          </p:cNvSpPr>
          <p:nvPr/>
        </p:nvSpPr>
        <p:spPr>
          <a:xfrm>
            <a:off x="4642866" y="2362861"/>
            <a:ext cx="148292" cy="3058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22" b="0" i="0">
                <a:solidFill>
                  <a:srgbClr val="14213D"/>
                </a:solidFill>
                <a:latin typeface="ArialMT"/>
                <a:ea typeface="ArialMT"/>
                <a:cs typeface="ArialMT"/>
              </a:defRPr>
            </a:defPPr>
          </a:lstStyle>
          <a:p>
            <a:pPr algn="l">
              <a:defRPr sz="1622" b="0" i="0">
                <a:solidFill>
                  <a:srgbClr val="14213D"/>
                </a:solidFill>
                <a:latin typeface="ArialMT"/>
                <a:ea typeface="ArialMT"/>
                <a:cs typeface="ArialMT"/>
              </a:defRPr>
            </a:pPr>
            <a:r>
              <a:rPr sz="1622" b="0" i="0">
                <a:solidFill>
                  <a:srgbClr val="14213D"/>
                </a:solidFill>
                <a:latin typeface="ArialMT"/>
                <a:ea typeface="ArialMT"/>
                <a:cs typeface="ArialMT"/>
              </a:rPr>
              <a:t>•</a:t>
            </a:r>
          </a:p>
        </p:txBody>
      </p:sp>
      <p:sp>
        <p:nvSpPr>
          <p:cNvPr id="20" name="Evidence supports checking it.">
            <a:extLst>
              <a:ext uri="{FF2B5EF4-FFF2-40B4-BE49-F238E27FC236}">
                <a16:creationId xmlns:a16="http://schemas.microsoft.com/office/drawing/2014/main" id="{73BAB518-0185-4F7B-B983-22C8E82F3035}"/>
              </a:ext>
            </a:extLst>
          </p:cNvPr>
          <p:cNvSpPr>
            <a:spLocks noGrp="1"/>
          </p:cNvSpPr>
          <p:nvPr/>
        </p:nvSpPr>
        <p:spPr>
          <a:xfrm>
            <a:off x="4900136" y="2342263"/>
            <a:ext cx="3616760" cy="3258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2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2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62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Evidence supports checking it.</a:t>
            </a:r>
          </a:p>
        </p:txBody>
      </p:sp>
      <p:sp>
        <p:nvSpPr>
          <p:cNvPr id="21" name="Any number of buyers can purchase the cookies and use their own supply ">
            <a:extLst>
              <a:ext uri="{FF2B5EF4-FFF2-40B4-BE49-F238E27FC236}">
                <a16:creationId xmlns:a16="http://schemas.microsoft.com/office/drawing/2014/main" id="{12826B75-3891-41FC-9BEE-6789680EAEAC}"/>
              </a:ext>
            </a:extLst>
          </p:cNvPr>
          <p:cNvSpPr>
            <a:spLocks noGrp="1"/>
          </p:cNvSpPr>
          <p:nvPr/>
        </p:nvSpPr>
        <p:spPr>
          <a:xfrm>
            <a:off x="604685" y="3367664"/>
            <a:ext cx="7589599" cy="3175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6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568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Any number of buyers can purchase the cookies and use their own supply </a:t>
            </a:r>
          </a:p>
        </p:txBody>
      </p:sp>
      <p:sp>
        <p:nvSpPr>
          <p:cNvPr id="22" name="chains.">
            <a:extLst>
              <a:ext uri="{FF2B5EF4-FFF2-40B4-BE49-F238E27FC236}">
                <a16:creationId xmlns:a16="http://schemas.microsoft.com/office/drawing/2014/main" id="{36288C60-E923-4EBB-9E8B-516522E9DED2}"/>
              </a:ext>
            </a:extLst>
          </p:cNvPr>
          <p:cNvSpPr>
            <a:spLocks noGrp="1"/>
          </p:cNvSpPr>
          <p:nvPr/>
        </p:nvSpPr>
        <p:spPr>
          <a:xfrm>
            <a:off x="604685" y="3607740"/>
            <a:ext cx="786115" cy="3178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7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57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chains.</a:t>
            </a:r>
          </a:p>
        </p:txBody>
      </p:sp>
      <p:sp>
        <p:nvSpPr>
          <p:cNvPr id="23" name="Buyer A ">
            <a:extLst>
              <a:ext uri="{FF2B5EF4-FFF2-40B4-BE49-F238E27FC236}">
                <a16:creationId xmlns:a16="http://schemas.microsoft.com/office/drawing/2014/main" id="{7F8157D7-6F1F-4B9D-8071-DFBCDFD58D07}"/>
              </a:ext>
            </a:extLst>
          </p:cNvPr>
          <p:cNvSpPr>
            <a:spLocks noGrp="1"/>
          </p:cNvSpPr>
          <p:nvPr/>
        </p:nvSpPr>
        <p:spPr>
          <a:xfrm>
            <a:off x="604685" y="4019076"/>
            <a:ext cx="925187" cy="29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Buyer A </a:t>
            </a:r>
          </a:p>
        </p:txBody>
      </p:sp>
      <p:sp>
        <p:nvSpPr>
          <p:cNvPr id="24" name="→">
            <a:extLst>
              <a:ext uri="{FF2B5EF4-FFF2-40B4-BE49-F238E27FC236}">
                <a16:creationId xmlns:a16="http://schemas.microsoft.com/office/drawing/2014/main" id="{00CD7E69-8B71-4255-A861-D400C37C48AD}"/>
              </a:ext>
            </a:extLst>
          </p:cNvPr>
          <p:cNvSpPr>
            <a:spLocks noGrp="1"/>
          </p:cNvSpPr>
          <p:nvPr/>
        </p:nvSpPr>
        <p:spPr>
          <a:xfrm>
            <a:off x="1452753" y="4036931"/>
            <a:ext cx="254746" cy="2752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1406" b="1" i="0">
                <a:solidFill>
                  <a:srgbClr val="0B5C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distributor ">
            <a:extLst>
              <a:ext uri="{FF2B5EF4-FFF2-40B4-BE49-F238E27FC236}">
                <a16:creationId xmlns:a16="http://schemas.microsoft.com/office/drawing/2014/main" id="{C2AAF7AE-ECF1-407F-9246-42AD0FBBAA77}"/>
              </a:ext>
            </a:extLst>
          </p:cNvPr>
          <p:cNvSpPr>
            <a:spLocks noGrp="1"/>
          </p:cNvSpPr>
          <p:nvPr/>
        </p:nvSpPr>
        <p:spPr>
          <a:xfrm>
            <a:off x="1692307" y="4019076"/>
            <a:ext cx="1205683" cy="29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distributor </a:t>
            </a:r>
          </a:p>
        </p:txBody>
      </p:sp>
      <p:sp>
        <p:nvSpPr>
          <p:cNvPr id="26" name="→">
            <a:extLst>
              <a:ext uri="{FF2B5EF4-FFF2-40B4-BE49-F238E27FC236}">
                <a16:creationId xmlns:a16="http://schemas.microsoft.com/office/drawing/2014/main" id="{F827162A-A857-4F52-91D4-FB91A0B306F6}"/>
              </a:ext>
            </a:extLst>
          </p:cNvPr>
          <p:cNvSpPr>
            <a:spLocks noGrp="1"/>
          </p:cNvSpPr>
          <p:nvPr/>
        </p:nvSpPr>
        <p:spPr>
          <a:xfrm>
            <a:off x="2821496" y="4036931"/>
            <a:ext cx="254746" cy="2752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1406" b="1" i="0">
                <a:solidFill>
                  <a:srgbClr val="0B5C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retailer">
            <a:extLst>
              <a:ext uri="{FF2B5EF4-FFF2-40B4-BE49-F238E27FC236}">
                <a16:creationId xmlns:a16="http://schemas.microsoft.com/office/drawing/2014/main" id="{E9E68986-30BF-4D9B-BB5E-8E509B995E86}"/>
              </a:ext>
            </a:extLst>
          </p:cNvPr>
          <p:cNvSpPr>
            <a:spLocks noGrp="1"/>
          </p:cNvSpPr>
          <p:nvPr/>
        </p:nvSpPr>
        <p:spPr>
          <a:xfrm>
            <a:off x="3061049" y="4019076"/>
            <a:ext cx="815560" cy="29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retailer</a:t>
            </a:r>
          </a:p>
        </p:txBody>
      </p:sp>
      <p:sp>
        <p:nvSpPr>
          <p:cNvPr id="28" name="Buyer B ">
            <a:extLst>
              <a:ext uri="{FF2B5EF4-FFF2-40B4-BE49-F238E27FC236}">
                <a16:creationId xmlns:a16="http://schemas.microsoft.com/office/drawing/2014/main" id="{47F84191-6FAB-4B04-9DB9-1C8144F3E33D}"/>
              </a:ext>
            </a:extLst>
          </p:cNvPr>
          <p:cNvSpPr>
            <a:spLocks noGrp="1"/>
          </p:cNvSpPr>
          <p:nvPr/>
        </p:nvSpPr>
        <p:spPr>
          <a:xfrm>
            <a:off x="604685" y="4239009"/>
            <a:ext cx="918402" cy="29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Buyer B </a:t>
            </a:r>
          </a:p>
        </p:txBody>
      </p:sp>
      <p:sp>
        <p:nvSpPr>
          <p:cNvPr id="29" name="→">
            <a:extLst>
              <a:ext uri="{FF2B5EF4-FFF2-40B4-BE49-F238E27FC236}">
                <a16:creationId xmlns:a16="http://schemas.microsoft.com/office/drawing/2014/main" id="{2E88BA8F-F863-44A6-881E-DEC0FD2CBC1B}"/>
              </a:ext>
            </a:extLst>
          </p:cNvPr>
          <p:cNvSpPr>
            <a:spLocks noGrp="1"/>
          </p:cNvSpPr>
          <p:nvPr/>
        </p:nvSpPr>
        <p:spPr>
          <a:xfrm>
            <a:off x="1450372" y="4256863"/>
            <a:ext cx="254746" cy="2752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1406" b="1" i="0">
                <a:solidFill>
                  <a:srgbClr val="0B5C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campus ">
            <a:extLst>
              <a:ext uri="{FF2B5EF4-FFF2-40B4-BE49-F238E27FC236}">
                <a16:creationId xmlns:a16="http://schemas.microsoft.com/office/drawing/2014/main" id="{F0A8EF90-20F2-4F4F-BAF0-CC701F2D8C09}"/>
              </a:ext>
            </a:extLst>
          </p:cNvPr>
          <p:cNvSpPr>
            <a:spLocks noGrp="1"/>
          </p:cNvSpPr>
          <p:nvPr/>
        </p:nvSpPr>
        <p:spPr>
          <a:xfrm>
            <a:off x="1689925" y="4239009"/>
            <a:ext cx="904833" cy="29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campus </a:t>
            </a:r>
          </a:p>
        </p:txBody>
      </p:sp>
      <p:sp>
        <p:nvSpPr>
          <p:cNvPr id="31" name="→">
            <a:extLst>
              <a:ext uri="{FF2B5EF4-FFF2-40B4-BE49-F238E27FC236}">
                <a16:creationId xmlns:a16="http://schemas.microsoft.com/office/drawing/2014/main" id="{57B3A3DF-D265-49B4-815C-BF44F915438C}"/>
              </a:ext>
            </a:extLst>
          </p:cNvPr>
          <p:cNvSpPr>
            <a:spLocks noGrp="1"/>
          </p:cNvSpPr>
          <p:nvPr/>
        </p:nvSpPr>
        <p:spPr>
          <a:xfrm>
            <a:off x="2522601" y="4256863"/>
            <a:ext cx="254746" cy="2752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1406" b="1" i="0">
                <a:solidFill>
                  <a:srgbClr val="0B5C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student">
            <a:extLst>
              <a:ext uri="{FF2B5EF4-FFF2-40B4-BE49-F238E27FC236}">
                <a16:creationId xmlns:a16="http://schemas.microsoft.com/office/drawing/2014/main" id="{A363F6E7-9C12-4356-B0E9-7F4A205C8E40}"/>
              </a:ext>
            </a:extLst>
          </p:cNvPr>
          <p:cNvSpPr>
            <a:spLocks noGrp="1"/>
          </p:cNvSpPr>
          <p:nvPr/>
        </p:nvSpPr>
        <p:spPr>
          <a:xfrm>
            <a:off x="2761869" y="4239009"/>
            <a:ext cx="844127" cy="29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student</a:t>
            </a:r>
          </a:p>
        </p:txBody>
      </p:sp>
      <p:sp>
        <p:nvSpPr>
          <p:cNvPr id="33" name="•">
            <a:extLst>
              <a:ext uri="{FF2B5EF4-FFF2-40B4-BE49-F238E27FC236}">
                <a16:creationId xmlns:a16="http://schemas.microsoft.com/office/drawing/2014/main" id="{9AB2F5E0-D49B-4E1B-84BE-EB785DD213CD}"/>
              </a:ext>
            </a:extLst>
          </p:cNvPr>
          <p:cNvSpPr>
            <a:spLocks noGrp="1"/>
          </p:cNvSpPr>
          <p:nvPr/>
        </p:nvSpPr>
        <p:spPr>
          <a:xfrm>
            <a:off x="4642866" y="3971710"/>
            <a:ext cx="136291" cy="2676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2" b="0" i="0">
                <a:solidFill>
                  <a:srgbClr val="14213D"/>
                </a:solidFill>
                <a:latin typeface="ArialMT"/>
                <a:ea typeface="ArialMT"/>
                <a:cs typeface="ArialMT"/>
              </a:defRPr>
            </a:defPPr>
          </a:lstStyle>
          <a:p>
            <a:pPr algn="l">
              <a:defRPr sz="1352" b="0" i="0">
                <a:solidFill>
                  <a:srgbClr val="14213D"/>
                </a:solidFill>
                <a:latin typeface="ArialMT"/>
                <a:ea typeface="ArialMT"/>
                <a:cs typeface="ArialMT"/>
              </a:defRPr>
            </a:pPr>
            <a:r>
              <a:rPr sz="1352" b="0" i="0">
                <a:solidFill>
                  <a:srgbClr val="14213D"/>
                </a:solidFill>
                <a:latin typeface="ArialMT"/>
                <a:ea typeface="ArialMT"/>
                <a:cs typeface="ArialMT"/>
              </a:rPr>
              <a:t>•</a:t>
            </a:r>
          </a:p>
        </p:txBody>
      </p:sp>
      <p:sp>
        <p:nvSpPr>
          <p:cNvPr id="34" name="A receipt at every stop references the ">
            <a:extLst>
              <a:ext uri="{FF2B5EF4-FFF2-40B4-BE49-F238E27FC236}">
                <a16:creationId xmlns:a16="http://schemas.microsoft.com/office/drawing/2014/main" id="{C7E7E931-C0F5-4FB5-9021-9CE609B638CC}"/>
              </a:ext>
            </a:extLst>
          </p:cNvPr>
          <p:cNvSpPr>
            <a:spLocks noGrp="1"/>
          </p:cNvSpPr>
          <p:nvPr/>
        </p:nvSpPr>
        <p:spPr>
          <a:xfrm>
            <a:off x="4857369" y="3954541"/>
            <a:ext cx="3779348" cy="2842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35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35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A receipt at every stop references the </a:t>
            </a:r>
          </a:p>
        </p:txBody>
      </p:sp>
      <p:sp>
        <p:nvSpPr>
          <p:cNvPr id="35" name="label and lot; ">
            <a:extLst>
              <a:ext uri="{FF2B5EF4-FFF2-40B4-BE49-F238E27FC236}">
                <a16:creationId xmlns:a16="http://schemas.microsoft.com/office/drawing/2014/main" id="{952888B0-3714-4D50-A6BC-B151E4BE6076}"/>
              </a:ext>
            </a:extLst>
          </p:cNvPr>
          <p:cNvSpPr>
            <a:spLocks noGrp="1"/>
          </p:cNvSpPr>
          <p:nvPr/>
        </p:nvSpPr>
        <p:spPr>
          <a:xfrm>
            <a:off x="4857369" y="4160529"/>
            <a:ext cx="1398455" cy="2842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35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35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label and lot; </a:t>
            </a:r>
          </a:p>
        </p:txBody>
      </p:sp>
      <p:sp>
        <p:nvSpPr>
          <p:cNvPr id="36" name="easy to accomplish with ">
            <a:extLst>
              <a:ext uri="{FF2B5EF4-FFF2-40B4-BE49-F238E27FC236}">
                <a16:creationId xmlns:a16="http://schemas.microsoft.com/office/drawing/2014/main" id="{FE93DA3B-1ABB-45E8-AF14-8AC14F0BC047}"/>
              </a:ext>
            </a:extLst>
          </p:cNvPr>
          <p:cNvSpPr>
            <a:spLocks noGrp="1"/>
          </p:cNvSpPr>
          <p:nvPr/>
        </p:nvSpPr>
        <p:spPr>
          <a:xfrm>
            <a:off x="6179534" y="4160529"/>
            <a:ext cx="2455970" cy="2842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2" b="1" i="1">
                <a:solidFill>
                  <a:srgbClr val="14213D"/>
                </a:solidFill>
                <a:latin typeface="VerdanaItalic"/>
                <a:ea typeface="VerdanaItalic"/>
                <a:cs typeface="VerdanaItalic"/>
              </a:defRPr>
            </a:defPPr>
          </a:lstStyle>
          <a:p>
            <a:pPr algn="l">
              <a:defRPr sz="1352" b="1" i="1">
                <a:solidFill>
                  <a:srgbClr val="14213D"/>
                </a:solidFill>
                <a:latin typeface="VerdanaItalic"/>
                <a:ea typeface="VerdanaItalic"/>
                <a:cs typeface="VerdanaItalic"/>
              </a:defRPr>
            </a:pPr>
            <a:r>
              <a:rPr sz="1352" b="1" i="1">
                <a:solidFill>
                  <a:srgbClr val="14213D"/>
                </a:solidFill>
                <a:latin typeface="VerdanaItalic"/>
                <a:ea typeface="VerdanaItalic"/>
                <a:cs typeface="VerdanaItalic"/>
              </a:rPr>
              <a:t>easy to accomplish with </a:t>
            </a:r>
          </a:p>
        </p:txBody>
      </p:sp>
      <p:sp>
        <p:nvSpPr>
          <p:cNvPr id="37" name="blockchains.">
            <a:extLst>
              <a:ext uri="{FF2B5EF4-FFF2-40B4-BE49-F238E27FC236}">
                <a16:creationId xmlns:a16="http://schemas.microsoft.com/office/drawing/2014/main" id="{94D0DD41-9E09-4CD0-8C3C-584ED6B33788}"/>
              </a:ext>
            </a:extLst>
          </p:cNvPr>
          <p:cNvSpPr>
            <a:spLocks noGrp="1"/>
          </p:cNvSpPr>
          <p:nvPr/>
        </p:nvSpPr>
        <p:spPr>
          <a:xfrm>
            <a:off x="4857369" y="4366507"/>
            <a:ext cx="1268573" cy="2842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2" b="1" i="1">
                <a:solidFill>
                  <a:srgbClr val="14213D"/>
                </a:solidFill>
                <a:latin typeface="VerdanaItalic"/>
                <a:ea typeface="VerdanaItalic"/>
                <a:cs typeface="VerdanaItalic"/>
              </a:defRPr>
            </a:defPPr>
          </a:lstStyle>
          <a:p>
            <a:pPr algn="l">
              <a:defRPr sz="1352" b="1" i="1">
                <a:solidFill>
                  <a:srgbClr val="14213D"/>
                </a:solidFill>
                <a:latin typeface="VerdanaItalic"/>
                <a:ea typeface="VerdanaItalic"/>
                <a:cs typeface="VerdanaItalic"/>
              </a:defRPr>
            </a:pPr>
            <a:r>
              <a:rPr sz="1352" b="1" i="1">
                <a:solidFill>
                  <a:srgbClr val="14213D"/>
                </a:solidFill>
                <a:latin typeface="VerdanaItalic"/>
                <a:ea typeface="VerdanaItalic"/>
                <a:cs typeface="VerdanaItalic"/>
              </a:rPr>
              <a:t>blockchains.</a:t>
            </a:r>
          </a:p>
        </p:txBody>
      </p:sp>
    </p:spTree>
    <p:extLst>
      <p:ext uri="{BB962C8B-B14F-4D97-AF65-F5344CB8AC3E}">
        <p14:creationId xmlns:p14="http://schemas.microsoft.com/office/powerpoint/2010/main" val="1795707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3F90F80B-9535-467F-B1D3-AE61AF02E440}"/>
              </a:ext>
            </a:extLst>
          </p:cNvPr>
          <p:cNvSpPr>
            <a:spLocks noGrp="1"/>
          </p:cNvSpPr>
          <p:nvPr/>
        </p:nvSpPr>
        <p:spPr>
          <a:xfrm>
            <a:off x="0" y="-47"/>
            <a:ext cx="9141714" cy="5144834"/>
          </a:xfrm>
          <a:custGeom>
            <a:avLst/>
            <a:gdLst/>
            <a:ahLst/>
            <a:cxnLst/>
            <a:rect l="0" t="0" r="0" b="0"/>
            <a:pathLst>
              <a:path w="9141714" h="5144834">
                <a:moveTo>
                  <a:pt x="0" y="0"/>
                </a:moveTo>
                <a:lnTo>
                  <a:pt x="9141714" y="0"/>
                </a:lnTo>
                <a:lnTo>
                  <a:pt x="9141714" y="5144834"/>
                </a:lnTo>
                <a:lnTo>
                  <a:pt x="0" y="5144834"/>
                </a:lnTo>
                <a:close/>
              </a:path>
            </a:pathLst>
          </a:cu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6BFCCB-5450-4129-88EA-C6E28702D1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D81064-DC00-44E3-8DE4-3D7DC9B3F5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" r="12"/>
          <a:stretch>
            <a:fillRect/>
          </a:stretch>
        </p:blipFill>
        <p:spPr>
          <a:xfrm>
            <a:off x="1165860" y="1138714"/>
            <a:ext cx="2023110" cy="20235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9DABA2-8FE8-4541-A8B1-B9D6539CE7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7" b="67"/>
          <a:stretch>
            <a:fillRect/>
          </a:stretch>
        </p:blipFill>
        <p:spPr>
          <a:xfrm>
            <a:off x="5815584" y="1138714"/>
            <a:ext cx="1892808" cy="1934432"/>
          </a:xfrm>
          <a:prstGeom prst="rect">
            <a:avLst/>
          </a:prstGeom>
        </p:spPr>
      </p:pic>
      <p:sp>
        <p:nvSpPr>
          <p:cNvPr id="5" name="One identity, two readable formats">
            <a:extLst>
              <a:ext uri="{FF2B5EF4-FFF2-40B4-BE49-F238E27FC236}">
                <a16:creationId xmlns:a16="http://schemas.microsoft.com/office/drawing/2014/main" id="{8B665A71-8841-41CE-B661-718E05CFFE11}"/>
              </a:ext>
            </a:extLst>
          </p:cNvPr>
          <p:cNvSpPr>
            <a:spLocks noGrp="1"/>
          </p:cNvSpPr>
          <p:nvPr/>
        </p:nvSpPr>
        <p:spPr>
          <a:xfrm>
            <a:off x="525942" y="340791"/>
            <a:ext cx="5699016" cy="4258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One identity, two readable formats</a:t>
            </a:r>
          </a:p>
        </p:txBody>
      </p:sp>
      <p:sp>
        <p:nvSpPr>
          <p:cNvPr id="6" name="08">
            <a:extLst>
              <a:ext uri="{FF2B5EF4-FFF2-40B4-BE49-F238E27FC236}">
                <a16:creationId xmlns:a16="http://schemas.microsoft.com/office/drawing/2014/main" id="{DAD8D608-E5B3-4DF0-9051-91C14D656E11}"/>
              </a:ext>
            </a:extLst>
          </p:cNvPr>
          <p:cNvSpPr>
            <a:spLocks noGrp="1"/>
          </p:cNvSpPr>
          <p:nvPr/>
        </p:nvSpPr>
        <p:spPr>
          <a:xfrm>
            <a:off x="525942" y="4856879"/>
            <a:ext cx="199222" cy="192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08</a:t>
            </a:r>
          </a:p>
        </p:txBody>
      </p:sp>
      <p:sp>
        <p:nvSpPr>
          <p:cNvPr id="7" name="Machine-readable JSON record">
            <a:extLst>
              <a:ext uri="{FF2B5EF4-FFF2-40B4-BE49-F238E27FC236}">
                <a16:creationId xmlns:a16="http://schemas.microsoft.com/office/drawing/2014/main" id="{9635F930-9D51-472F-B01A-031CD67CB048}"/>
              </a:ext>
            </a:extLst>
          </p:cNvPr>
          <p:cNvSpPr>
            <a:spLocks noGrp="1"/>
          </p:cNvSpPr>
          <p:nvPr/>
        </p:nvSpPr>
        <p:spPr>
          <a:xfrm>
            <a:off x="568976" y="3253394"/>
            <a:ext cx="1849724" cy="2177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20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920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920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Machine-readable JSON record</a:t>
            </a:r>
          </a:p>
        </p:txBody>
      </p:sp>
      <p:sp>
        <p:nvSpPr>
          <p:cNvPr id="8" name="Human-readable form of the ELL SBT">
            <a:extLst>
              <a:ext uri="{FF2B5EF4-FFF2-40B4-BE49-F238E27FC236}">
                <a16:creationId xmlns:a16="http://schemas.microsoft.com/office/drawing/2014/main" id="{5803E82B-BF96-40FC-8DDD-ED7AFB2533FF}"/>
              </a:ext>
            </a:extLst>
          </p:cNvPr>
          <p:cNvSpPr>
            <a:spLocks noGrp="1"/>
          </p:cNvSpPr>
          <p:nvPr/>
        </p:nvSpPr>
        <p:spPr>
          <a:xfrm>
            <a:off x="5136166" y="3253394"/>
            <a:ext cx="2229590" cy="2177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20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920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920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Human-readable form of the ELL SBT</a:t>
            </a:r>
          </a:p>
        </p:txBody>
      </p:sp>
      <p:sp>
        <p:nvSpPr>
          <p:cNvPr id="9" name="Eva’s machine-readable SBT">
            <a:extLst>
              <a:ext uri="{FF2B5EF4-FFF2-40B4-BE49-F238E27FC236}">
                <a16:creationId xmlns:a16="http://schemas.microsoft.com/office/drawing/2014/main" id="{A70739A0-8515-439A-9CA1-387FCFB10B79}"/>
              </a:ext>
            </a:extLst>
          </p:cNvPr>
          <p:cNvSpPr>
            <a:spLocks noGrp="1"/>
          </p:cNvSpPr>
          <p:nvPr/>
        </p:nvSpPr>
        <p:spPr>
          <a:xfrm>
            <a:off x="568976" y="3446367"/>
            <a:ext cx="3481332" cy="334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76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76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676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Eva’s machine-readable SBT</a:t>
            </a:r>
          </a:p>
        </p:txBody>
      </p:sp>
      <p:sp>
        <p:nvSpPr>
          <p:cNvPr id="10" name="1. Review claims and evidence links">
            <a:extLst>
              <a:ext uri="{FF2B5EF4-FFF2-40B4-BE49-F238E27FC236}">
                <a16:creationId xmlns:a16="http://schemas.microsoft.com/office/drawing/2014/main" id="{DD3A5041-8DBA-4339-AB42-85358E62D699}"/>
              </a:ext>
            </a:extLst>
          </p:cNvPr>
          <p:cNvSpPr>
            <a:spLocks noGrp="1"/>
          </p:cNvSpPr>
          <p:nvPr/>
        </p:nvSpPr>
        <p:spPr>
          <a:xfrm>
            <a:off x="568976" y="3911522"/>
            <a:ext cx="3039681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1. Review claims and evidence links</a:t>
            </a:r>
          </a:p>
        </p:txBody>
      </p:sp>
      <p:sp>
        <p:nvSpPr>
          <p:cNvPr id="11" name="2. Inspect validation status and permissions">
            <a:extLst>
              <a:ext uri="{FF2B5EF4-FFF2-40B4-BE49-F238E27FC236}">
                <a16:creationId xmlns:a16="http://schemas.microsoft.com/office/drawing/2014/main" id="{223D0DC0-E156-4C81-BE17-A8D32A8DCC4C}"/>
              </a:ext>
            </a:extLst>
          </p:cNvPr>
          <p:cNvSpPr>
            <a:spLocks noGrp="1"/>
          </p:cNvSpPr>
          <p:nvPr/>
        </p:nvSpPr>
        <p:spPr>
          <a:xfrm>
            <a:off x="568976" y="4110422"/>
            <a:ext cx="3725529" cy="2762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0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30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30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2. Inspect validation status and permissions</a:t>
            </a:r>
          </a:p>
        </p:txBody>
      </p:sp>
      <p:sp>
        <p:nvSpPr>
          <p:cNvPr id="12" name="3. Check pending approval and signature">
            <a:extLst>
              <a:ext uri="{FF2B5EF4-FFF2-40B4-BE49-F238E27FC236}">
                <a16:creationId xmlns:a16="http://schemas.microsoft.com/office/drawing/2014/main" id="{441F51E0-0AE0-4C68-9E70-FA628A16EBB7}"/>
              </a:ext>
            </a:extLst>
          </p:cNvPr>
          <p:cNvSpPr>
            <a:spLocks noGrp="1"/>
          </p:cNvSpPr>
          <p:nvPr/>
        </p:nvSpPr>
        <p:spPr>
          <a:xfrm>
            <a:off x="568976" y="4303161"/>
            <a:ext cx="3470548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3. Check pending approval and signature</a:t>
            </a:r>
          </a:p>
        </p:txBody>
      </p:sp>
      <p:sp>
        <p:nvSpPr>
          <p:cNvPr id="13" name="Eva’s human-readable SBT">
            <a:extLst>
              <a:ext uri="{FF2B5EF4-FFF2-40B4-BE49-F238E27FC236}">
                <a16:creationId xmlns:a16="http://schemas.microsoft.com/office/drawing/2014/main" id="{3185F633-7896-4C91-8DF9-905E72D43FB7}"/>
              </a:ext>
            </a:extLst>
          </p:cNvPr>
          <p:cNvSpPr>
            <a:spLocks noGrp="1"/>
          </p:cNvSpPr>
          <p:nvPr/>
        </p:nvSpPr>
        <p:spPr>
          <a:xfrm>
            <a:off x="5136166" y="3446367"/>
            <a:ext cx="3290689" cy="334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76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76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676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Eva’s human-readable SBT</a:t>
            </a:r>
          </a:p>
        </p:txBody>
      </p:sp>
      <p:sp>
        <p:nvSpPr>
          <p:cNvPr id="14" name="1. Open the human-readable form">
            <a:extLst>
              <a:ext uri="{FF2B5EF4-FFF2-40B4-BE49-F238E27FC236}">
                <a16:creationId xmlns:a16="http://schemas.microsoft.com/office/drawing/2014/main" id="{07FB9D0D-F902-4AD7-9580-E24BB2EF5158}"/>
              </a:ext>
            </a:extLst>
          </p:cNvPr>
          <p:cNvSpPr>
            <a:spLocks noGrp="1"/>
          </p:cNvSpPr>
          <p:nvPr/>
        </p:nvSpPr>
        <p:spPr>
          <a:xfrm>
            <a:off x="5136166" y="3911522"/>
            <a:ext cx="2923134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1. Open the human-readable form</a:t>
            </a:r>
          </a:p>
        </p:txBody>
      </p:sp>
      <p:sp>
        <p:nvSpPr>
          <p:cNvPr id="15" name="2. Review Eva’s identity and credentials">
            <a:extLst>
              <a:ext uri="{FF2B5EF4-FFF2-40B4-BE49-F238E27FC236}">
                <a16:creationId xmlns:a16="http://schemas.microsoft.com/office/drawing/2014/main" id="{B020D0CE-3C0E-4E17-8196-6B0B7BCB073B}"/>
              </a:ext>
            </a:extLst>
          </p:cNvPr>
          <p:cNvSpPr>
            <a:spLocks noGrp="1"/>
          </p:cNvSpPr>
          <p:nvPr/>
        </p:nvSpPr>
        <p:spPr>
          <a:xfrm>
            <a:off x="5136166" y="4110422"/>
            <a:ext cx="3356105" cy="2762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0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30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30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2. Review Eva’s identity and credentials</a:t>
            </a:r>
          </a:p>
        </p:txBody>
      </p:sp>
      <p:sp>
        <p:nvSpPr>
          <p:cNvPr id="16" name="3. Compare with the machine-readable ">
            <a:extLst>
              <a:ext uri="{FF2B5EF4-FFF2-40B4-BE49-F238E27FC236}">
                <a16:creationId xmlns:a16="http://schemas.microsoft.com/office/drawing/2014/main" id="{84D560C8-F737-48D7-9B8E-BD59B3CA3DF3}"/>
              </a:ext>
            </a:extLst>
          </p:cNvPr>
          <p:cNvSpPr>
            <a:spLocks noGrp="1"/>
          </p:cNvSpPr>
          <p:nvPr/>
        </p:nvSpPr>
        <p:spPr>
          <a:xfrm>
            <a:off x="5136166" y="4303161"/>
            <a:ext cx="3371167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3. Compare with the machine-readable </a:t>
            </a:r>
          </a:p>
        </p:txBody>
      </p:sp>
      <p:sp>
        <p:nvSpPr>
          <p:cNvPr id="17" name="record">
            <a:extLst>
              <a:ext uri="{FF2B5EF4-FFF2-40B4-BE49-F238E27FC236}">
                <a16:creationId xmlns:a16="http://schemas.microsoft.com/office/drawing/2014/main" id="{2D935C2F-E933-434F-BD92-94804857A812}"/>
              </a:ext>
            </a:extLst>
          </p:cNvPr>
          <p:cNvSpPr>
            <a:spLocks noGrp="1"/>
          </p:cNvSpPr>
          <p:nvPr/>
        </p:nvSpPr>
        <p:spPr>
          <a:xfrm>
            <a:off x="5136166" y="4502282"/>
            <a:ext cx="603656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record</a:t>
            </a:r>
          </a:p>
        </p:txBody>
      </p:sp>
    </p:spTree>
    <p:extLst>
      <p:ext uri="{BB962C8B-B14F-4D97-AF65-F5344CB8AC3E}">
        <p14:creationId xmlns:p14="http://schemas.microsoft.com/office/powerpoint/2010/main" val="444661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7AC9A67A-80F0-46C5-BA3A-3ABBC2F76E17}"/>
              </a:ext>
            </a:extLst>
          </p:cNvPr>
          <p:cNvSpPr>
            <a:spLocks noGrp="1"/>
          </p:cNvSpPr>
          <p:nvPr/>
        </p:nvSpPr>
        <p:spPr>
          <a:xfrm>
            <a:off x="0" y="-47"/>
            <a:ext cx="9141714" cy="5144834"/>
          </a:xfrm>
          <a:custGeom>
            <a:avLst/>
            <a:gdLst/>
            <a:ahLst/>
            <a:cxnLst/>
            <a:rect l="0" t="0" r="0" b="0"/>
            <a:pathLst>
              <a:path w="9141714" h="5144834">
                <a:moveTo>
                  <a:pt x="0" y="0"/>
                </a:moveTo>
                <a:lnTo>
                  <a:pt x="9141714" y="0"/>
                </a:lnTo>
                <a:lnTo>
                  <a:pt x="9141714" y="5144834"/>
                </a:lnTo>
                <a:lnTo>
                  <a:pt x="0" y="5144834"/>
                </a:lnTo>
                <a:close/>
              </a:path>
            </a:pathLst>
          </a:cu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B675C9-05D3-478D-A9C1-CA218FB775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51B699-42A7-4807-8E08-D595629B87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" r="181"/>
          <a:stretch>
            <a:fillRect/>
          </a:stretch>
        </p:blipFill>
        <p:spPr>
          <a:xfrm>
            <a:off x="3559302" y="1179862"/>
            <a:ext cx="2016252" cy="2023586"/>
          </a:xfrm>
          <a:prstGeom prst="rect">
            <a:avLst/>
          </a:prstGeom>
        </p:spPr>
      </p:pic>
      <p:sp>
        <p:nvSpPr>
          <p:cNvPr id="4" name="Explore the Registry prototype">
            <a:extLst>
              <a:ext uri="{FF2B5EF4-FFF2-40B4-BE49-F238E27FC236}">
                <a16:creationId xmlns:a16="http://schemas.microsoft.com/office/drawing/2014/main" id="{17EF2BC2-17E3-4D4B-82F7-611AE2FF5D51}"/>
              </a:ext>
            </a:extLst>
          </p:cNvPr>
          <p:cNvSpPr>
            <a:spLocks noGrp="1"/>
          </p:cNvSpPr>
          <p:nvPr/>
        </p:nvSpPr>
        <p:spPr>
          <a:xfrm>
            <a:off x="525942" y="340791"/>
            <a:ext cx="5018128" cy="4258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Explore the Registry prototype</a:t>
            </a:r>
          </a:p>
        </p:txBody>
      </p:sp>
      <p:sp>
        <p:nvSpPr>
          <p:cNvPr id="5" name="09">
            <a:extLst>
              <a:ext uri="{FF2B5EF4-FFF2-40B4-BE49-F238E27FC236}">
                <a16:creationId xmlns:a16="http://schemas.microsoft.com/office/drawing/2014/main" id="{3A76D1F0-24F1-48D6-A9BD-8D1EB90D901F}"/>
              </a:ext>
            </a:extLst>
          </p:cNvPr>
          <p:cNvSpPr>
            <a:spLocks noGrp="1"/>
          </p:cNvSpPr>
          <p:nvPr/>
        </p:nvSpPr>
        <p:spPr>
          <a:xfrm>
            <a:off x="525942" y="4856879"/>
            <a:ext cx="199222" cy="192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09</a:t>
            </a:r>
          </a:p>
        </p:txBody>
      </p:sp>
      <p:sp>
        <p:nvSpPr>
          <p:cNvPr id="6" name="Fictional records; simulated retrieval">
            <a:extLst>
              <a:ext uri="{FF2B5EF4-FFF2-40B4-BE49-F238E27FC236}">
                <a16:creationId xmlns:a16="http://schemas.microsoft.com/office/drawing/2014/main" id="{882510AF-3C0C-4C80-BD09-AE30551444C4}"/>
              </a:ext>
            </a:extLst>
          </p:cNvPr>
          <p:cNvSpPr>
            <a:spLocks noGrp="1"/>
          </p:cNvSpPr>
          <p:nvPr/>
        </p:nvSpPr>
        <p:spPr>
          <a:xfrm>
            <a:off x="2641759" y="3253394"/>
            <a:ext cx="2184409" cy="2177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20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920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920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Fictional records; simulated retrieval</a:t>
            </a:r>
          </a:p>
        </p:txBody>
      </p:sp>
      <p:sp>
        <p:nvSpPr>
          <p:cNvPr id="7" name="Registry concept demo">
            <a:extLst>
              <a:ext uri="{FF2B5EF4-FFF2-40B4-BE49-F238E27FC236}">
                <a16:creationId xmlns:a16="http://schemas.microsoft.com/office/drawing/2014/main" id="{6958E12B-B0D2-43E8-85DB-F4D77D7C20B9}"/>
              </a:ext>
            </a:extLst>
          </p:cNvPr>
          <p:cNvSpPr>
            <a:spLocks noGrp="1"/>
          </p:cNvSpPr>
          <p:nvPr/>
        </p:nvSpPr>
        <p:spPr>
          <a:xfrm>
            <a:off x="2641759" y="3446367"/>
            <a:ext cx="2832427" cy="334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76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76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676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Registry concept demo</a:t>
            </a:r>
          </a:p>
        </p:txBody>
      </p:sp>
      <p:sp>
        <p:nvSpPr>
          <p:cNvPr id="8" name="1. Open AI Retrieval Sandbox">
            <a:extLst>
              <a:ext uri="{FF2B5EF4-FFF2-40B4-BE49-F238E27FC236}">
                <a16:creationId xmlns:a16="http://schemas.microsoft.com/office/drawing/2014/main" id="{DAD8C31B-306D-4907-B1FB-10CE7277C694}"/>
              </a:ext>
            </a:extLst>
          </p:cNvPr>
          <p:cNvSpPr>
            <a:spLocks noGrp="1"/>
          </p:cNvSpPr>
          <p:nvPr/>
        </p:nvSpPr>
        <p:spPr>
          <a:xfrm>
            <a:off x="2641759" y="3911522"/>
            <a:ext cx="2524586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1. Open AI Retrieval Sandbox</a:t>
            </a:r>
          </a:p>
        </p:txBody>
      </p:sp>
      <p:sp>
        <p:nvSpPr>
          <p:cNvPr id="9" name="2. Run the transportation-planning prompt">
            <a:extLst>
              <a:ext uri="{FF2B5EF4-FFF2-40B4-BE49-F238E27FC236}">
                <a16:creationId xmlns:a16="http://schemas.microsoft.com/office/drawing/2014/main" id="{A478ECE9-C86D-4B0F-9316-415229A77569}"/>
              </a:ext>
            </a:extLst>
          </p:cNvPr>
          <p:cNvSpPr>
            <a:spLocks noGrp="1"/>
          </p:cNvSpPr>
          <p:nvPr/>
        </p:nvSpPr>
        <p:spPr>
          <a:xfrm>
            <a:off x="2641759" y="4110422"/>
            <a:ext cx="3606532" cy="2762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0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30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30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2. Run the transportation-planning prompt</a:t>
            </a:r>
          </a:p>
        </p:txBody>
      </p:sp>
      <p:sp>
        <p:nvSpPr>
          <p:cNvPr id="10" name="3. Inspect the result and retrieval trace">
            <a:extLst>
              <a:ext uri="{FF2B5EF4-FFF2-40B4-BE49-F238E27FC236}">
                <a16:creationId xmlns:a16="http://schemas.microsoft.com/office/drawing/2014/main" id="{16D5EB61-E243-480C-A46F-7C013EF3AEB9}"/>
              </a:ext>
            </a:extLst>
          </p:cNvPr>
          <p:cNvSpPr>
            <a:spLocks noGrp="1"/>
          </p:cNvSpPr>
          <p:nvPr/>
        </p:nvSpPr>
        <p:spPr>
          <a:xfrm>
            <a:off x="2641759" y="4303161"/>
            <a:ext cx="3332584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3. Inspect the result and retrieval trace</a:t>
            </a:r>
          </a:p>
        </p:txBody>
      </p:sp>
    </p:spTree>
    <p:extLst>
      <p:ext uri="{BB962C8B-B14F-4D97-AF65-F5344CB8AC3E}">
        <p14:creationId xmlns:p14="http://schemas.microsoft.com/office/powerpoint/2010/main" val="430710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2">
            <a:extLst>
              <a:ext uri="{FF2B5EF4-FFF2-40B4-BE49-F238E27FC236}">
                <a16:creationId xmlns:a16="http://schemas.microsoft.com/office/drawing/2014/main" id="{75AE6BFA-5E22-44CA-BAB2-C9362098F77C}"/>
              </a:ext>
            </a:extLst>
          </p:cNvPr>
          <p:cNvSpPr>
            <a:spLocks noGrp="1"/>
          </p:cNvSpPr>
          <p:nvPr/>
        </p:nvSpPr>
        <p:spPr>
          <a:xfrm>
            <a:off x="0" y="-47"/>
            <a:ext cx="9141714" cy="5144834"/>
          </a:xfrm>
          <a:custGeom>
            <a:avLst/>
            <a:gdLst/>
            <a:ahLst/>
            <a:cxnLst/>
            <a:rect l="0" t="0" r="0" b="0"/>
            <a:pathLst>
              <a:path w="9141714" h="5144834">
                <a:moveTo>
                  <a:pt x="0" y="0"/>
                </a:moveTo>
                <a:lnTo>
                  <a:pt x="9141714" y="0"/>
                </a:lnTo>
                <a:lnTo>
                  <a:pt x="9141714" y="5144834"/>
                </a:lnTo>
                <a:lnTo>
                  <a:pt x="0" y="5144834"/>
                </a:lnTo>
                <a:close/>
              </a:path>
            </a:pathLst>
          </a:cu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BD073906-C000-42DD-898C-243A1EE2C5C0}"/>
              </a:ext>
            </a:extLst>
          </p:cNvPr>
          <p:cNvSpPr>
            <a:spLocks noGrp="1"/>
          </p:cNvSpPr>
          <p:nvPr/>
        </p:nvSpPr>
        <p:spPr>
          <a:xfrm>
            <a:off x="466344" y="1090708"/>
            <a:ext cx="8209026" cy="555593"/>
          </a:xfrm>
          <a:custGeom>
            <a:avLst/>
            <a:gdLst/>
            <a:ahLst/>
            <a:cxnLst/>
            <a:rect l="0" t="0" r="0" b="0"/>
            <a:pathLst>
              <a:path w="8209026" h="555593">
                <a:moveTo>
                  <a:pt x="0" y="57721"/>
                </a:moveTo>
                <a:cubicBezTo>
                  <a:pt x="0" y="25813"/>
                  <a:pt x="25841" y="0"/>
                  <a:pt x="57712" y="0"/>
                </a:cubicBezTo>
                <a:lnTo>
                  <a:pt x="8151304" y="0"/>
                </a:lnTo>
                <a:cubicBezTo>
                  <a:pt x="8183214" y="0"/>
                  <a:pt x="8209026" y="25813"/>
                  <a:pt x="8209026" y="57721"/>
                </a:cubicBezTo>
                <a:lnTo>
                  <a:pt x="8209026" y="497872"/>
                </a:lnTo>
                <a:cubicBezTo>
                  <a:pt x="8209026" y="529780"/>
                  <a:pt x="8183214" y="555593"/>
                  <a:pt x="8151304" y="555593"/>
                </a:cubicBezTo>
                <a:lnTo>
                  <a:pt x="57712" y="555593"/>
                </a:lnTo>
                <a:cubicBezTo>
                  <a:pt x="25841" y="555593"/>
                  <a:pt x="0" y="529780"/>
                  <a:pt x="0" y="497872"/>
                </a:cubicBezTo>
                <a:lnTo>
                  <a:pt x="0" y="57721"/>
                </a:lnTo>
              </a:path>
            </a:pathLst>
          </a:custGeom>
          <a:solidFill>
            <a:srgbClr val="E7F2F1"/>
          </a:solidFill>
          <a:ln w="10716">
            <a:solidFill>
              <a:srgbClr val="E7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493E5021-6B5B-4359-8D92-9CD9929BB5F9}"/>
              </a:ext>
            </a:extLst>
          </p:cNvPr>
          <p:cNvSpPr>
            <a:spLocks noGrp="1"/>
          </p:cNvSpPr>
          <p:nvPr/>
        </p:nvSpPr>
        <p:spPr>
          <a:xfrm>
            <a:off x="466344" y="2099120"/>
            <a:ext cx="1412748" cy="1138618"/>
          </a:xfrm>
          <a:custGeom>
            <a:avLst/>
            <a:gdLst/>
            <a:ahLst/>
            <a:cxnLst/>
            <a:rect l="0" t="0" r="0" b="0"/>
            <a:pathLst>
              <a:path w="1412748" h="1138618">
                <a:moveTo>
                  <a:pt x="0" y="57245"/>
                </a:moveTo>
                <a:cubicBezTo>
                  <a:pt x="0" y="25622"/>
                  <a:pt x="25641" y="0"/>
                  <a:pt x="57274" y="0"/>
                </a:cubicBezTo>
                <a:lnTo>
                  <a:pt x="1355503" y="0"/>
                </a:lnTo>
                <a:cubicBezTo>
                  <a:pt x="1387126" y="0"/>
                  <a:pt x="1412748" y="25622"/>
                  <a:pt x="1412748" y="57245"/>
                </a:cubicBezTo>
                <a:lnTo>
                  <a:pt x="1412748" y="1081373"/>
                </a:lnTo>
                <a:cubicBezTo>
                  <a:pt x="1412748" y="1112996"/>
                  <a:pt x="1387126" y="1138618"/>
                  <a:pt x="1355503" y="1138618"/>
                </a:cubicBezTo>
                <a:lnTo>
                  <a:pt x="57274" y="1138618"/>
                </a:lnTo>
                <a:cubicBezTo>
                  <a:pt x="25641" y="1138618"/>
                  <a:pt x="0" y="1112996"/>
                  <a:pt x="0" y="1081373"/>
                </a:cubicBezTo>
                <a:lnTo>
                  <a:pt x="0" y="57245"/>
                </a:lnTo>
              </a:path>
            </a:pathLst>
          </a:custGeom>
          <a:solidFill>
            <a:srgbClr val="FFFFFF"/>
          </a:solidFill>
          <a:ln w="10716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A4324FF-D0E8-408B-89FA-F2054EF02A00}"/>
              </a:ext>
            </a:extLst>
          </p:cNvPr>
          <p:cNvSpPr>
            <a:spLocks noGrp="1"/>
          </p:cNvSpPr>
          <p:nvPr/>
        </p:nvSpPr>
        <p:spPr>
          <a:xfrm>
            <a:off x="2167128" y="2099120"/>
            <a:ext cx="1412748" cy="1138618"/>
          </a:xfrm>
          <a:custGeom>
            <a:avLst/>
            <a:gdLst/>
            <a:ahLst/>
            <a:cxnLst/>
            <a:rect l="0" t="0" r="0" b="0"/>
            <a:pathLst>
              <a:path w="1412748" h="1138618">
                <a:moveTo>
                  <a:pt x="0" y="57245"/>
                </a:moveTo>
                <a:cubicBezTo>
                  <a:pt x="0" y="25622"/>
                  <a:pt x="25622" y="0"/>
                  <a:pt x="57245" y="0"/>
                </a:cubicBezTo>
                <a:lnTo>
                  <a:pt x="1355503" y="0"/>
                </a:lnTo>
                <a:cubicBezTo>
                  <a:pt x="1387126" y="0"/>
                  <a:pt x="1412748" y="25622"/>
                  <a:pt x="1412748" y="57245"/>
                </a:cubicBezTo>
                <a:lnTo>
                  <a:pt x="1412748" y="1081373"/>
                </a:lnTo>
                <a:cubicBezTo>
                  <a:pt x="1412748" y="1112996"/>
                  <a:pt x="1387126" y="1138618"/>
                  <a:pt x="1355503" y="1138618"/>
                </a:cubicBezTo>
                <a:lnTo>
                  <a:pt x="57245" y="1138618"/>
                </a:lnTo>
                <a:cubicBezTo>
                  <a:pt x="25622" y="1138618"/>
                  <a:pt x="0" y="1112996"/>
                  <a:pt x="0" y="1081373"/>
                </a:cubicBezTo>
                <a:lnTo>
                  <a:pt x="0" y="57245"/>
                </a:lnTo>
              </a:path>
            </a:pathLst>
          </a:custGeom>
          <a:solidFill>
            <a:srgbClr val="FFFFFF"/>
          </a:solidFill>
          <a:ln w="10716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30150F79-ADAE-4F88-B717-200C0EEE09A7}"/>
              </a:ext>
            </a:extLst>
          </p:cNvPr>
          <p:cNvSpPr>
            <a:spLocks noGrp="1"/>
          </p:cNvSpPr>
          <p:nvPr/>
        </p:nvSpPr>
        <p:spPr>
          <a:xfrm>
            <a:off x="3861054" y="2099120"/>
            <a:ext cx="1419606" cy="1138618"/>
          </a:xfrm>
          <a:custGeom>
            <a:avLst/>
            <a:gdLst/>
            <a:ahLst/>
            <a:cxnLst/>
            <a:rect l="0" t="0" r="0" b="0"/>
            <a:pathLst>
              <a:path w="1419606" h="1138618">
                <a:moveTo>
                  <a:pt x="0" y="57245"/>
                </a:moveTo>
                <a:cubicBezTo>
                  <a:pt x="0" y="25622"/>
                  <a:pt x="25622" y="0"/>
                  <a:pt x="57245" y="0"/>
                </a:cubicBezTo>
                <a:lnTo>
                  <a:pt x="1362361" y="0"/>
                </a:lnTo>
                <a:cubicBezTo>
                  <a:pt x="1393984" y="0"/>
                  <a:pt x="1419606" y="25622"/>
                  <a:pt x="1419606" y="57245"/>
                </a:cubicBezTo>
                <a:lnTo>
                  <a:pt x="1419606" y="1081373"/>
                </a:lnTo>
                <a:cubicBezTo>
                  <a:pt x="1419606" y="1112996"/>
                  <a:pt x="1393984" y="1138618"/>
                  <a:pt x="1362361" y="1138618"/>
                </a:cubicBezTo>
                <a:lnTo>
                  <a:pt x="57245" y="1138618"/>
                </a:lnTo>
                <a:cubicBezTo>
                  <a:pt x="25622" y="1138618"/>
                  <a:pt x="0" y="1112996"/>
                  <a:pt x="0" y="1081373"/>
                </a:cubicBezTo>
                <a:lnTo>
                  <a:pt x="0" y="57245"/>
                </a:lnTo>
              </a:path>
            </a:pathLst>
          </a:custGeom>
          <a:solidFill>
            <a:srgbClr val="E7F2F1"/>
          </a:solidFill>
          <a:ln w="10716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912DFB3-0278-44D5-814D-61A4B3DFB018}"/>
              </a:ext>
            </a:extLst>
          </p:cNvPr>
          <p:cNvSpPr>
            <a:spLocks noGrp="1"/>
          </p:cNvSpPr>
          <p:nvPr/>
        </p:nvSpPr>
        <p:spPr>
          <a:xfrm>
            <a:off x="5561838" y="2099120"/>
            <a:ext cx="1412748" cy="1138618"/>
          </a:xfrm>
          <a:custGeom>
            <a:avLst/>
            <a:gdLst/>
            <a:ahLst/>
            <a:cxnLst/>
            <a:rect l="0" t="0" r="0" b="0"/>
            <a:pathLst>
              <a:path w="1412748" h="1138618">
                <a:moveTo>
                  <a:pt x="0" y="57245"/>
                </a:moveTo>
                <a:cubicBezTo>
                  <a:pt x="0" y="25622"/>
                  <a:pt x="25622" y="0"/>
                  <a:pt x="57245" y="0"/>
                </a:cubicBezTo>
                <a:lnTo>
                  <a:pt x="1355503" y="0"/>
                </a:lnTo>
                <a:cubicBezTo>
                  <a:pt x="1387126" y="0"/>
                  <a:pt x="1412748" y="25622"/>
                  <a:pt x="1412748" y="57245"/>
                </a:cubicBezTo>
                <a:lnTo>
                  <a:pt x="1412748" y="1081373"/>
                </a:lnTo>
                <a:cubicBezTo>
                  <a:pt x="1412748" y="1112996"/>
                  <a:pt x="1387126" y="1138618"/>
                  <a:pt x="1355503" y="1138618"/>
                </a:cubicBezTo>
                <a:lnTo>
                  <a:pt x="57245" y="1138618"/>
                </a:lnTo>
                <a:cubicBezTo>
                  <a:pt x="25622" y="1138618"/>
                  <a:pt x="0" y="1112996"/>
                  <a:pt x="0" y="1081373"/>
                </a:cubicBezTo>
                <a:lnTo>
                  <a:pt x="0" y="57245"/>
                </a:lnTo>
              </a:path>
            </a:pathLst>
          </a:custGeom>
          <a:solidFill>
            <a:srgbClr val="FFFFFF"/>
          </a:solidFill>
          <a:ln w="10716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5927DF2-6B74-4B15-8C6F-D072169AB220}"/>
              </a:ext>
            </a:extLst>
          </p:cNvPr>
          <p:cNvSpPr>
            <a:spLocks noGrp="1"/>
          </p:cNvSpPr>
          <p:nvPr/>
        </p:nvSpPr>
        <p:spPr>
          <a:xfrm>
            <a:off x="7262622" y="2099120"/>
            <a:ext cx="1412748" cy="1138618"/>
          </a:xfrm>
          <a:custGeom>
            <a:avLst/>
            <a:gdLst/>
            <a:ahLst/>
            <a:cxnLst/>
            <a:rect l="0" t="0" r="0" b="0"/>
            <a:pathLst>
              <a:path w="1412748" h="1138618">
                <a:moveTo>
                  <a:pt x="0" y="57245"/>
                </a:moveTo>
                <a:cubicBezTo>
                  <a:pt x="0" y="25622"/>
                  <a:pt x="25622" y="0"/>
                  <a:pt x="57245" y="0"/>
                </a:cubicBezTo>
                <a:lnTo>
                  <a:pt x="1355503" y="0"/>
                </a:lnTo>
                <a:cubicBezTo>
                  <a:pt x="1387126" y="0"/>
                  <a:pt x="1412748" y="25622"/>
                  <a:pt x="1412748" y="57245"/>
                </a:cubicBezTo>
                <a:lnTo>
                  <a:pt x="1412748" y="1081373"/>
                </a:lnTo>
                <a:cubicBezTo>
                  <a:pt x="1412748" y="1112996"/>
                  <a:pt x="1387126" y="1138618"/>
                  <a:pt x="1355503" y="1138618"/>
                </a:cubicBezTo>
                <a:lnTo>
                  <a:pt x="57245" y="1138618"/>
                </a:lnTo>
                <a:cubicBezTo>
                  <a:pt x="25622" y="1138618"/>
                  <a:pt x="0" y="1112996"/>
                  <a:pt x="0" y="1081373"/>
                </a:cubicBezTo>
                <a:lnTo>
                  <a:pt x="0" y="57245"/>
                </a:lnTo>
              </a:path>
            </a:pathLst>
          </a:custGeom>
          <a:solidFill>
            <a:srgbClr val="FFFFFF"/>
          </a:solidFill>
          <a:ln w="10716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7F0783-AC62-4071-B36E-842A5D52BC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sp>
        <p:nvSpPr>
          <p:cNvPr id="9" name="One agent answers the user’s prompt">
            <a:extLst>
              <a:ext uri="{FF2B5EF4-FFF2-40B4-BE49-F238E27FC236}">
                <a16:creationId xmlns:a16="http://schemas.microsoft.com/office/drawing/2014/main" id="{8496A00E-FF34-47D6-BCF3-EE26B2C70249}"/>
              </a:ext>
            </a:extLst>
          </p:cNvPr>
          <p:cNvSpPr>
            <a:spLocks noGrp="1"/>
          </p:cNvSpPr>
          <p:nvPr/>
        </p:nvSpPr>
        <p:spPr>
          <a:xfrm>
            <a:off x="525942" y="340791"/>
            <a:ext cx="6126303" cy="4258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272" b="1" i="0" dirty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One </a:t>
            </a:r>
            <a:r>
              <a:rPr lang="en-US" sz="2272" b="1" i="0" dirty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AI </a:t>
            </a:r>
            <a:r>
              <a:rPr sz="2272" b="1" i="0" dirty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agent answers the user’s prompt</a:t>
            </a:r>
          </a:p>
        </p:txBody>
      </p:sp>
      <p:sp>
        <p:nvSpPr>
          <p:cNvPr id="10" name="10">
            <a:extLst>
              <a:ext uri="{FF2B5EF4-FFF2-40B4-BE49-F238E27FC236}">
                <a16:creationId xmlns:a16="http://schemas.microsoft.com/office/drawing/2014/main" id="{D1EF26B9-2284-4F04-96A6-ACBE66B56646}"/>
              </a:ext>
            </a:extLst>
          </p:cNvPr>
          <p:cNvSpPr>
            <a:spLocks noGrp="1"/>
          </p:cNvSpPr>
          <p:nvPr/>
        </p:nvSpPr>
        <p:spPr>
          <a:xfrm>
            <a:off x="525942" y="4856879"/>
            <a:ext cx="199222" cy="192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11" name="“Which registered member has experience with transportation planning?”">
            <a:extLst>
              <a:ext uri="{FF2B5EF4-FFF2-40B4-BE49-F238E27FC236}">
                <a16:creationId xmlns:a16="http://schemas.microsoft.com/office/drawing/2014/main" id="{1F947651-A665-4E23-86B9-825D248742F5}"/>
              </a:ext>
            </a:extLst>
          </p:cNvPr>
          <p:cNvSpPr>
            <a:spLocks noGrp="1"/>
          </p:cNvSpPr>
          <p:nvPr/>
        </p:nvSpPr>
        <p:spPr>
          <a:xfrm>
            <a:off x="683200" y="1285601"/>
            <a:ext cx="7535857" cy="29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06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406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“Which registered member has experience with transportation planning?”</a:t>
            </a:r>
          </a:p>
        </p:txBody>
      </p:sp>
      <p:sp>
        <p:nvSpPr>
          <p:cNvPr id="12" name="USER">
            <a:extLst>
              <a:ext uri="{FF2B5EF4-FFF2-40B4-BE49-F238E27FC236}">
                <a16:creationId xmlns:a16="http://schemas.microsoft.com/office/drawing/2014/main" id="{BE25C9B4-2438-46E8-A0F2-7DD20C6202DD}"/>
              </a:ext>
            </a:extLst>
          </p:cNvPr>
          <p:cNvSpPr>
            <a:spLocks noGrp="1"/>
          </p:cNvSpPr>
          <p:nvPr/>
        </p:nvSpPr>
        <p:spPr>
          <a:xfrm>
            <a:off x="640394" y="2273108"/>
            <a:ext cx="459335" cy="234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USER</a:t>
            </a:r>
          </a:p>
        </p:txBody>
      </p:sp>
      <p:sp>
        <p:nvSpPr>
          <p:cNvPr id="13" name="Prompt">
            <a:extLst>
              <a:ext uri="{FF2B5EF4-FFF2-40B4-BE49-F238E27FC236}">
                <a16:creationId xmlns:a16="http://schemas.microsoft.com/office/drawing/2014/main" id="{70EBAE7B-B3E8-4DD2-963C-4E3A0210F80E}"/>
              </a:ext>
            </a:extLst>
          </p:cNvPr>
          <p:cNvSpPr>
            <a:spLocks noGrp="1"/>
          </p:cNvSpPr>
          <p:nvPr/>
        </p:nvSpPr>
        <p:spPr>
          <a:xfrm>
            <a:off x="640394" y="2609333"/>
            <a:ext cx="693955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Prompt</a:t>
            </a:r>
          </a:p>
        </p:txBody>
      </p:sp>
      <p:sp>
        <p:nvSpPr>
          <p:cNvPr id="14" name="→">
            <a:extLst>
              <a:ext uri="{FF2B5EF4-FFF2-40B4-BE49-F238E27FC236}">
                <a16:creationId xmlns:a16="http://schemas.microsoft.com/office/drawing/2014/main" id="{BB960CE5-C927-439D-9F44-0C8CB901C351}"/>
              </a:ext>
            </a:extLst>
          </p:cNvPr>
          <p:cNvSpPr>
            <a:spLocks noGrp="1"/>
          </p:cNvSpPr>
          <p:nvPr/>
        </p:nvSpPr>
        <p:spPr>
          <a:xfrm>
            <a:off x="1991201" y="2542165"/>
            <a:ext cx="337280" cy="367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5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5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2056" b="1" i="0">
                <a:solidFill>
                  <a:srgbClr val="0B5C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AI AGENT">
            <a:extLst>
              <a:ext uri="{FF2B5EF4-FFF2-40B4-BE49-F238E27FC236}">
                <a16:creationId xmlns:a16="http://schemas.microsoft.com/office/drawing/2014/main" id="{364B1284-B178-42B9-95D4-5286FBDFE2E0}"/>
              </a:ext>
            </a:extLst>
          </p:cNvPr>
          <p:cNvSpPr>
            <a:spLocks noGrp="1"/>
          </p:cNvSpPr>
          <p:nvPr/>
        </p:nvSpPr>
        <p:spPr>
          <a:xfrm>
            <a:off x="2341436" y="2273108"/>
            <a:ext cx="783988" cy="234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AI AGENT</a:t>
            </a:r>
          </a:p>
        </p:txBody>
      </p:sp>
      <p:sp>
        <p:nvSpPr>
          <p:cNvPr id="16" name="Plan the ">
            <a:extLst>
              <a:ext uri="{FF2B5EF4-FFF2-40B4-BE49-F238E27FC236}">
                <a16:creationId xmlns:a16="http://schemas.microsoft.com/office/drawing/2014/main" id="{15CB1DB9-C020-4AD7-B8EE-32BCE32033DD}"/>
              </a:ext>
            </a:extLst>
          </p:cNvPr>
          <p:cNvSpPr>
            <a:spLocks noGrp="1"/>
          </p:cNvSpPr>
          <p:nvPr/>
        </p:nvSpPr>
        <p:spPr>
          <a:xfrm>
            <a:off x="2341436" y="2609333"/>
            <a:ext cx="821646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Plan the </a:t>
            </a:r>
          </a:p>
        </p:txBody>
      </p:sp>
      <p:sp>
        <p:nvSpPr>
          <p:cNvPr id="17" name="query">
            <a:extLst>
              <a:ext uri="{FF2B5EF4-FFF2-40B4-BE49-F238E27FC236}">
                <a16:creationId xmlns:a16="http://schemas.microsoft.com/office/drawing/2014/main" id="{3E07887A-73A1-407A-9325-C270FE8DFF12}"/>
              </a:ext>
            </a:extLst>
          </p:cNvPr>
          <p:cNvSpPr>
            <a:spLocks noGrp="1"/>
          </p:cNvSpPr>
          <p:nvPr/>
        </p:nvSpPr>
        <p:spPr>
          <a:xfrm>
            <a:off x="2341436" y="2788117"/>
            <a:ext cx="559312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query</a:t>
            </a:r>
          </a:p>
        </p:txBody>
      </p:sp>
      <p:sp>
        <p:nvSpPr>
          <p:cNvPr id="18" name="→">
            <a:extLst>
              <a:ext uri="{FF2B5EF4-FFF2-40B4-BE49-F238E27FC236}">
                <a16:creationId xmlns:a16="http://schemas.microsoft.com/office/drawing/2014/main" id="{5D7A642F-FA16-435B-8138-EEF9BE387B5C}"/>
              </a:ext>
            </a:extLst>
          </p:cNvPr>
          <p:cNvSpPr>
            <a:spLocks noGrp="1"/>
          </p:cNvSpPr>
          <p:nvPr/>
        </p:nvSpPr>
        <p:spPr>
          <a:xfrm>
            <a:off x="3692462" y="2542165"/>
            <a:ext cx="337280" cy="367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5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5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2056" b="1" i="0">
                <a:solidFill>
                  <a:srgbClr val="0B5C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RAG TARGET">
            <a:extLst>
              <a:ext uri="{FF2B5EF4-FFF2-40B4-BE49-F238E27FC236}">
                <a16:creationId xmlns:a16="http://schemas.microsoft.com/office/drawing/2014/main" id="{B78A3A9E-6DC7-4FED-8DF8-D6D076427B4D}"/>
              </a:ext>
            </a:extLst>
          </p:cNvPr>
          <p:cNvSpPr>
            <a:spLocks noGrp="1"/>
          </p:cNvSpPr>
          <p:nvPr/>
        </p:nvSpPr>
        <p:spPr>
          <a:xfrm>
            <a:off x="4042696" y="2273108"/>
            <a:ext cx="994680" cy="234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RAG TARGET</a:t>
            </a:r>
          </a:p>
        </p:txBody>
      </p:sp>
      <p:sp>
        <p:nvSpPr>
          <p:cNvPr id="20" name="Authorize">
            <a:extLst>
              <a:ext uri="{FF2B5EF4-FFF2-40B4-BE49-F238E27FC236}">
                <a16:creationId xmlns:a16="http://schemas.microsoft.com/office/drawing/2014/main" id="{B6436004-A9D5-4DC7-B10A-C9E04E3E57E8}"/>
              </a:ext>
            </a:extLst>
          </p:cNvPr>
          <p:cNvSpPr>
            <a:spLocks noGrp="1"/>
          </p:cNvSpPr>
          <p:nvPr/>
        </p:nvSpPr>
        <p:spPr>
          <a:xfrm>
            <a:off x="4042696" y="2609333"/>
            <a:ext cx="896448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Authorize</a:t>
            </a:r>
          </a:p>
        </p:txBody>
      </p:sp>
      <p:sp>
        <p:nvSpPr>
          <p:cNvPr id="21" name="Retrieve">
            <a:extLst>
              <a:ext uri="{FF2B5EF4-FFF2-40B4-BE49-F238E27FC236}">
                <a16:creationId xmlns:a16="http://schemas.microsoft.com/office/drawing/2014/main" id="{DEA3FDD6-6B97-4190-B66C-34A1B30971C2}"/>
              </a:ext>
            </a:extLst>
          </p:cNvPr>
          <p:cNvSpPr>
            <a:spLocks noGrp="1"/>
          </p:cNvSpPr>
          <p:nvPr/>
        </p:nvSpPr>
        <p:spPr>
          <a:xfrm>
            <a:off x="4042696" y="2788117"/>
            <a:ext cx="786739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Retrieve</a:t>
            </a:r>
          </a:p>
        </p:txBody>
      </p:sp>
      <p:sp>
        <p:nvSpPr>
          <p:cNvPr id="22" name="→">
            <a:extLst>
              <a:ext uri="{FF2B5EF4-FFF2-40B4-BE49-F238E27FC236}">
                <a16:creationId xmlns:a16="http://schemas.microsoft.com/office/drawing/2014/main" id="{28589985-442D-477A-AF63-B7FCB5FA2693}"/>
              </a:ext>
            </a:extLst>
          </p:cNvPr>
          <p:cNvSpPr>
            <a:spLocks noGrp="1"/>
          </p:cNvSpPr>
          <p:nvPr/>
        </p:nvSpPr>
        <p:spPr>
          <a:xfrm>
            <a:off x="5393436" y="2542165"/>
            <a:ext cx="337280" cy="367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5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5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2056" b="1" i="0">
                <a:solidFill>
                  <a:srgbClr val="0B5C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AI AGENT">
            <a:extLst>
              <a:ext uri="{FF2B5EF4-FFF2-40B4-BE49-F238E27FC236}">
                <a16:creationId xmlns:a16="http://schemas.microsoft.com/office/drawing/2014/main" id="{D700846C-1253-4B18-A806-EF7C3ACD2DBD}"/>
              </a:ext>
            </a:extLst>
          </p:cNvPr>
          <p:cNvSpPr>
            <a:spLocks noGrp="1"/>
          </p:cNvSpPr>
          <p:nvPr/>
        </p:nvSpPr>
        <p:spPr>
          <a:xfrm>
            <a:off x="5743670" y="2273108"/>
            <a:ext cx="782162" cy="234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AI AGENT</a:t>
            </a:r>
          </a:p>
        </p:txBody>
      </p:sp>
      <p:sp>
        <p:nvSpPr>
          <p:cNvPr id="24" name="Reason from">
            <a:extLst>
              <a:ext uri="{FF2B5EF4-FFF2-40B4-BE49-F238E27FC236}">
                <a16:creationId xmlns:a16="http://schemas.microsoft.com/office/drawing/2014/main" id="{CD085930-EA4A-4F61-923E-3FE8FC298982}"/>
              </a:ext>
            </a:extLst>
          </p:cNvPr>
          <p:cNvSpPr>
            <a:spLocks noGrp="1"/>
          </p:cNvSpPr>
          <p:nvPr/>
        </p:nvSpPr>
        <p:spPr>
          <a:xfrm>
            <a:off x="5743670" y="2609333"/>
            <a:ext cx="1147750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Reason from</a:t>
            </a:r>
          </a:p>
        </p:txBody>
      </p:sp>
      <p:sp>
        <p:nvSpPr>
          <p:cNvPr id="25" name="evidence">
            <a:extLst>
              <a:ext uri="{FF2B5EF4-FFF2-40B4-BE49-F238E27FC236}">
                <a16:creationId xmlns:a16="http://schemas.microsoft.com/office/drawing/2014/main" id="{B9819301-31B3-4809-98CA-3A42BCB163EE}"/>
              </a:ext>
            </a:extLst>
          </p:cNvPr>
          <p:cNvSpPr>
            <a:spLocks noGrp="1"/>
          </p:cNvSpPr>
          <p:nvPr/>
        </p:nvSpPr>
        <p:spPr>
          <a:xfrm>
            <a:off x="5743670" y="2788117"/>
            <a:ext cx="827238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evidence</a:t>
            </a:r>
          </a:p>
        </p:txBody>
      </p:sp>
      <p:sp>
        <p:nvSpPr>
          <p:cNvPr id="26" name="→">
            <a:extLst>
              <a:ext uri="{FF2B5EF4-FFF2-40B4-BE49-F238E27FC236}">
                <a16:creationId xmlns:a16="http://schemas.microsoft.com/office/drawing/2014/main" id="{3B3298EF-6DA3-4099-89F0-F01734069970}"/>
              </a:ext>
            </a:extLst>
          </p:cNvPr>
          <p:cNvSpPr>
            <a:spLocks noGrp="1"/>
          </p:cNvSpPr>
          <p:nvPr/>
        </p:nvSpPr>
        <p:spPr>
          <a:xfrm>
            <a:off x="7094506" y="2542165"/>
            <a:ext cx="337280" cy="367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5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56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2056" b="1" i="0">
                <a:solidFill>
                  <a:srgbClr val="0B5C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USER">
            <a:extLst>
              <a:ext uri="{FF2B5EF4-FFF2-40B4-BE49-F238E27FC236}">
                <a16:creationId xmlns:a16="http://schemas.microsoft.com/office/drawing/2014/main" id="{DAB16D11-827A-4DDB-A739-61B34469D28F}"/>
              </a:ext>
            </a:extLst>
          </p:cNvPr>
          <p:cNvSpPr>
            <a:spLocks noGrp="1"/>
          </p:cNvSpPr>
          <p:nvPr/>
        </p:nvSpPr>
        <p:spPr>
          <a:xfrm>
            <a:off x="7444740" y="2273108"/>
            <a:ext cx="459335" cy="234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028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USER</a:t>
            </a:r>
          </a:p>
        </p:txBody>
      </p:sp>
      <p:sp>
        <p:nvSpPr>
          <p:cNvPr id="28" name="Answer + ">
            <a:extLst>
              <a:ext uri="{FF2B5EF4-FFF2-40B4-BE49-F238E27FC236}">
                <a16:creationId xmlns:a16="http://schemas.microsoft.com/office/drawing/2014/main" id="{DF73FD25-D472-4694-932B-76F077C25D1D}"/>
              </a:ext>
            </a:extLst>
          </p:cNvPr>
          <p:cNvSpPr>
            <a:spLocks noGrp="1"/>
          </p:cNvSpPr>
          <p:nvPr/>
        </p:nvSpPr>
        <p:spPr>
          <a:xfrm>
            <a:off x="7444740" y="2609333"/>
            <a:ext cx="943746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Answer + </a:t>
            </a:r>
          </a:p>
        </p:txBody>
      </p:sp>
      <p:sp>
        <p:nvSpPr>
          <p:cNvPr id="29" name="sources">
            <a:extLst>
              <a:ext uri="{FF2B5EF4-FFF2-40B4-BE49-F238E27FC236}">
                <a16:creationId xmlns:a16="http://schemas.microsoft.com/office/drawing/2014/main" id="{A6435B28-FC9C-49EA-A581-451CA1F0DB70}"/>
              </a:ext>
            </a:extLst>
          </p:cNvPr>
          <p:cNvSpPr>
            <a:spLocks noGrp="1"/>
          </p:cNvSpPr>
          <p:nvPr/>
        </p:nvSpPr>
        <p:spPr>
          <a:xfrm>
            <a:off x="7444740" y="2788117"/>
            <a:ext cx="727804" cy="259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19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sources</a:t>
            </a:r>
          </a:p>
        </p:txBody>
      </p:sp>
      <p:sp>
        <p:nvSpPr>
          <p:cNvPr id="30" name="Proposed agent workflow using the demo’s question">
            <a:extLst>
              <a:ext uri="{FF2B5EF4-FFF2-40B4-BE49-F238E27FC236}">
                <a16:creationId xmlns:a16="http://schemas.microsoft.com/office/drawing/2014/main" id="{08C6D623-FD1A-4017-B5E9-0F7A4E2056B0}"/>
              </a:ext>
            </a:extLst>
          </p:cNvPr>
          <p:cNvSpPr>
            <a:spLocks noGrp="1"/>
          </p:cNvSpPr>
          <p:nvPr/>
        </p:nvSpPr>
        <p:spPr>
          <a:xfrm>
            <a:off x="590493" y="3675458"/>
            <a:ext cx="5145808" cy="2842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2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352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352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Proposed agent workflow using the demo’s question</a:t>
            </a:r>
          </a:p>
        </p:txBody>
      </p:sp>
      <p:sp>
        <p:nvSpPr>
          <p:cNvPr id="31" name="Demo result: Priya Shah, Transportation Planner, Demo Mobility Lab.">
            <a:extLst>
              <a:ext uri="{FF2B5EF4-FFF2-40B4-BE49-F238E27FC236}">
                <a16:creationId xmlns:a16="http://schemas.microsoft.com/office/drawing/2014/main" id="{273FB769-D479-42D5-B684-B72D55AB63A9}"/>
              </a:ext>
            </a:extLst>
          </p:cNvPr>
          <p:cNvSpPr>
            <a:spLocks noGrp="1"/>
          </p:cNvSpPr>
          <p:nvPr/>
        </p:nvSpPr>
        <p:spPr>
          <a:xfrm>
            <a:off x="590493" y="4097660"/>
            <a:ext cx="5761521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Demo result: Priya Shah, Transportation Planner, Demo Mobility Lab.</a:t>
            </a:r>
          </a:p>
        </p:txBody>
      </p:sp>
      <p:sp>
        <p:nvSpPr>
          <p:cNvPr id="32" name="The demo labels the returned expertise as transportation planning.">
            <a:extLst>
              <a:ext uri="{FF2B5EF4-FFF2-40B4-BE49-F238E27FC236}">
                <a16:creationId xmlns:a16="http://schemas.microsoft.com/office/drawing/2014/main" id="{E3A2BD51-D3E2-4F4E-8EF2-42621160A612}"/>
              </a:ext>
            </a:extLst>
          </p:cNvPr>
          <p:cNvSpPr>
            <a:spLocks noGrp="1"/>
          </p:cNvSpPr>
          <p:nvPr/>
        </p:nvSpPr>
        <p:spPr>
          <a:xfrm>
            <a:off x="590493" y="4296780"/>
            <a:ext cx="5624709" cy="2759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298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The demo labels the returned expertise as transportation planning.</a:t>
            </a:r>
          </a:p>
        </p:txBody>
      </p:sp>
    </p:spTree>
    <p:extLst>
      <p:ext uri="{BB962C8B-B14F-4D97-AF65-F5344CB8AC3E}">
        <p14:creationId xmlns:p14="http://schemas.microsoft.com/office/powerpoint/2010/main" val="209188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 56">
            <a:extLst>
              <a:ext uri="{FF2B5EF4-FFF2-40B4-BE49-F238E27FC236}">
                <a16:creationId xmlns:a16="http://schemas.microsoft.com/office/drawing/2014/main" id="{99235C4B-F9FD-4ED2-B0F8-0A5810D06B0F}"/>
              </a:ext>
            </a:extLst>
          </p:cNvPr>
          <p:cNvSpPr>
            <a:spLocks noGrp="1"/>
          </p:cNvSpPr>
          <p:nvPr/>
        </p:nvSpPr>
        <p:spPr>
          <a:xfrm>
            <a:off x="0" y="-47"/>
            <a:ext cx="9141714" cy="5144834"/>
          </a:xfrm>
          <a:custGeom>
            <a:avLst/>
            <a:gdLst/>
            <a:ahLst/>
            <a:cxnLst/>
            <a:rect l="0" t="0" r="0" b="0"/>
            <a:pathLst>
              <a:path w="9141714" h="5144834">
                <a:moveTo>
                  <a:pt x="0" y="0"/>
                </a:moveTo>
                <a:lnTo>
                  <a:pt x="9141714" y="0"/>
                </a:lnTo>
                <a:lnTo>
                  <a:pt x="9141714" y="5144834"/>
                </a:lnTo>
                <a:lnTo>
                  <a:pt x="0" y="5144834"/>
                </a:lnTo>
                <a:close/>
              </a:path>
            </a:pathLst>
          </a:cu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A656AF51-075C-4173-8E6E-DC2CA3C8CD92}"/>
              </a:ext>
            </a:extLst>
          </p:cNvPr>
          <p:cNvSpPr>
            <a:spLocks noGrp="1"/>
          </p:cNvSpPr>
          <p:nvPr/>
        </p:nvSpPr>
        <p:spPr>
          <a:xfrm>
            <a:off x="473202" y="1042702"/>
            <a:ext cx="8195310" cy="487013"/>
          </a:xfrm>
          <a:custGeom>
            <a:avLst/>
            <a:gdLst/>
            <a:ahLst/>
            <a:cxnLst/>
            <a:rect l="0" t="0" r="0" b="0"/>
            <a:pathLst>
              <a:path w="8195310" h="487013">
                <a:moveTo>
                  <a:pt x="0" y="57245"/>
                </a:moveTo>
                <a:cubicBezTo>
                  <a:pt x="0" y="25622"/>
                  <a:pt x="25651" y="0"/>
                  <a:pt x="57293" y="0"/>
                </a:cubicBezTo>
                <a:lnTo>
                  <a:pt x="8138065" y="0"/>
                </a:lnTo>
                <a:cubicBezTo>
                  <a:pt x="8169688" y="0"/>
                  <a:pt x="8195310" y="25622"/>
                  <a:pt x="8195310" y="57245"/>
                </a:cubicBezTo>
                <a:lnTo>
                  <a:pt x="8195310" y="429673"/>
                </a:lnTo>
                <a:cubicBezTo>
                  <a:pt x="8195310" y="461391"/>
                  <a:pt x="8169688" y="487013"/>
                  <a:pt x="8138065" y="487013"/>
                </a:cubicBezTo>
                <a:lnTo>
                  <a:pt x="57293" y="487013"/>
                </a:lnTo>
                <a:cubicBezTo>
                  <a:pt x="25651" y="487013"/>
                  <a:pt x="0" y="461391"/>
                  <a:pt x="0" y="429673"/>
                </a:cubicBezTo>
                <a:lnTo>
                  <a:pt x="0" y="57245"/>
                </a:lnTo>
              </a:path>
            </a:pathLst>
          </a:custGeom>
          <a:solidFill>
            <a:srgbClr val="E7F2F1"/>
          </a:solidFill>
          <a:ln w="10716">
            <a:solidFill>
              <a:srgbClr val="E7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40582A7-6511-42B8-9E5E-EE679DC08450}"/>
              </a:ext>
            </a:extLst>
          </p:cNvPr>
          <p:cNvSpPr>
            <a:spLocks noGrp="1"/>
          </p:cNvSpPr>
          <p:nvPr/>
        </p:nvSpPr>
        <p:spPr>
          <a:xfrm>
            <a:off x="2791206" y="1907000"/>
            <a:ext cx="3559302" cy="624269"/>
          </a:xfrm>
          <a:custGeom>
            <a:avLst/>
            <a:gdLst/>
            <a:ahLst/>
            <a:cxnLst/>
            <a:rect l="0" t="0" r="0" b="0"/>
            <a:pathLst>
              <a:path w="3559302" h="624269">
                <a:moveTo>
                  <a:pt x="0" y="57436"/>
                </a:moveTo>
                <a:cubicBezTo>
                  <a:pt x="0" y="25718"/>
                  <a:pt x="25717" y="0"/>
                  <a:pt x="57340" y="0"/>
                </a:cubicBezTo>
                <a:lnTo>
                  <a:pt x="3501962" y="0"/>
                </a:lnTo>
                <a:cubicBezTo>
                  <a:pt x="3533585" y="0"/>
                  <a:pt x="3559302" y="25718"/>
                  <a:pt x="3559302" y="57436"/>
                </a:cubicBezTo>
                <a:lnTo>
                  <a:pt x="3559302" y="566833"/>
                </a:lnTo>
                <a:cubicBezTo>
                  <a:pt x="3559302" y="598551"/>
                  <a:pt x="3533585" y="624269"/>
                  <a:pt x="3501962" y="624269"/>
                </a:cubicBezTo>
                <a:lnTo>
                  <a:pt x="57340" y="624269"/>
                </a:lnTo>
                <a:cubicBezTo>
                  <a:pt x="25717" y="624269"/>
                  <a:pt x="0" y="598551"/>
                  <a:pt x="0" y="566833"/>
                </a:cubicBezTo>
                <a:lnTo>
                  <a:pt x="0" y="57436"/>
                </a:lnTo>
              </a:path>
            </a:pathLst>
          </a:custGeom>
          <a:solidFill>
            <a:srgbClr val="FFFFFF"/>
          </a:solidFill>
          <a:ln w="10716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E1B4131F-48AF-4C98-A964-435D7FCA2E5F}"/>
              </a:ext>
            </a:extLst>
          </p:cNvPr>
          <p:cNvSpPr>
            <a:spLocks noGrp="1"/>
          </p:cNvSpPr>
          <p:nvPr/>
        </p:nvSpPr>
        <p:spPr>
          <a:xfrm>
            <a:off x="4560570" y="2538051"/>
            <a:ext cx="20573" cy="294970"/>
          </a:xfrm>
          <a:custGeom>
            <a:avLst/>
            <a:gdLst/>
            <a:ahLst/>
            <a:cxnLst/>
            <a:rect l="0" t="0" r="0" b="0"/>
            <a:pathLst>
              <a:path w="20573" h="294970">
                <a:moveTo>
                  <a:pt x="0" y="0"/>
                </a:moveTo>
                <a:lnTo>
                  <a:pt x="20573" y="0"/>
                </a:lnTo>
                <a:lnTo>
                  <a:pt x="20573" y="294970"/>
                </a:lnTo>
                <a:lnTo>
                  <a:pt x="0" y="294970"/>
                </a:lnTo>
                <a:close/>
              </a:path>
            </a:pathLst>
          </a:custGeom>
          <a:solidFill>
            <a:srgbClr val="0B5C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A46EDE3D-0B96-44C2-A713-81200401A47C}"/>
              </a:ext>
            </a:extLst>
          </p:cNvPr>
          <p:cNvSpPr>
            <a:spLocks noGrp="1"/>
          </p:cNvSpPr>
          <p:nvPr/>
        </p:nvSpPr>
        <p:spPr>
          <a:xfrm>
            <a:off x="1714500" y="2819302"/>
            <a:ext cx="5712714" cy="13719"/>
          </a:xfrm>
          <a:custGeom>
            <a:avLst/>
            <a:gdLst/>
            <a:ahLst/>
            <a:cxnLst/>
            <a:rect l="0" t="0" r="0" b="0"/>
            <a:pathLst>
              <a:path w="5712714" h="13719">
                <a:moveTo>
                  <a:pt x="0" y="0"/>
                </a:moveTo>
                <a:lnTo>
                  <a:pt x="5712714" y="0"/>
                </a:lnTo>
                <a:lnTo>
                  <a:pt x="5712714" y="13719"/>
                </a:lnTo>
                <a:lnTo>
                  <a:pt x="0" y="13719"/>
                </a:lnTo>
                <a:close/>
              </a:path>
            </a:pathLst>
          </a:custGeom>
          <a:solidFill>
            <a:srgbClr val="0B5C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1433AC9-7133-4FE1-A4D7-0BF66B9FCA85}"/>
              </a:ext>
            </a:extLst>
          </p:cNvPr>
          <p:cNvSpPr>
            <a:spLocks noGrp="1"/>
          </p:cNvSpPr>
          <p:nvPr/>
        </p:nvSpPr>
        <p:spPr>
          <a:xfrm>
            <a:off x="1721358" y="2819343"/>
            <a:ext cx="13716" cy="246945"/>
          </a:xfrm>
          <a:custGeom>
            <a:avLst/>
            <a:gdLst/>
            <a:ahLst/>
            <a:cxnLst/>
            <a:rect l="0" t="0" r="0" b="0"/>
            <a:pathLst>
              <a:path w="13716" h="246945">
                <a:moveTo>
                  <a:pt x="0" y="0"/>
                </a:moveTo>
                <a:lnTo>
                  <a:pt x="13716" y="0"/>
                </a:lnTo>
                <a:lnTo>
                  <a:pt x="13716" y="246945"/>
                </a:lnTo>
                <a:lnTo>
                  <a:pt x="0" y="246945"/>
                </a:lnTo>
                <a:close/>
              </a:path>
            </a:pathLst>
          </a:custGeom>
          <a:solidFill>
            <a:srgbClr val="0B5C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8ECA5EF-4DEB-4B1F-A94D-0E8D36E10012}"/>
              </a:ext>
            </a:extLst>
          </p:cNvPr>
          <p:cNvSpPr>
            <a:spLocks noGrp="1"/>
          </p:cNvSpPr>
          <p:nvPr/>
        </p:nvSpPr>
        <p:spPr>
          <a:xfrm>
            <a:off x="466344" y="3326987"/>
            <a:ext cx="2468880" cy="720281"/>
          </a:xfrm>
          <a:custGeom>
            <a:avLst/>
            <a:gdLst/>
            <a:ahLst/>
            <a:cxnLst/>
            <a:rect l="0" t="0" r="0" b="0"/>
            <a:pathLst>
              <a:path w="2468880" h="720281">
                <a:moveTo>
                  <a:pt x="0" y="57055"/>
                </a:moveTo>
                <a:cubicBezTo>
                  <a:pt x="0" y="25527"/>
                  <a:pt x="25537" y="0"/>
                  <a:pt x="57036" y="0"/>
                </a:cubicBezTo>
                <a:lnTo>
                  <a:pt x="2411825" y="0"/>
                </a:lnTo>
                <a:cubicBezTo>
                  <a:pt x="2443353" y="0"/>
                  <a:pt x="2468880" y="25527"/>
                  <a:pt x="2468880" y="57055"/>
                </a:cubicBezTo>
                <a:lnTo>
                  <a:pt x="2468880" y="663226"/>
                </a:lnTo>
                <a:cubicBezTo>
                  <a:pt x="2468880" y="694658"/>
                  <a:pt x="2443353" y="720281"/>
                  <a:pt x="2411825" y="720281"/>
                </a:cubicBezTo>
                <a:lnTo>
                  <a:pt x="57036" y="720281"/>
                </a:lnTo>
                <a:cubicBezTo>
                  <a:pt x="25537" y="720281"/>
                  <a:pt x="0" y="694658"/>
                  <a:pt x="0" y="663226"/>
                </a:cubicBezTo>
                <a:lnTo>
                  <a:pt x="0" y="57055"/>
                </a:lnTo>
              </a:path>
            </a:pathLst>
          </a:custGeom>
          <a:solidFill>
            <a:srgbClr val="FFFFFF"/>
          </a:solidFill>
          <a:ln w="10716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D08E887-F423-4A49-944B-6B962EA5FCF4}"/>
              </a:ext>
            </a:extLst>
          </p:cNvPr>
          <p:cNvSpPr>
            <a:spLocks noGrp="1"/>
          </p:cNvSpPr>
          <p:nvPr/>
        </p:nvSpPr>
        <p:spPr>
          <a:xfrm>
            <a:off x="4594860" y="2819343"/>
            <a:ext cx="13716" cy="246945"/>
          </a:xfrm>
          <a:custGeom>
            <a:avLst/>
            <a:gdLst/>
            <a:ahLst/>
            <a:cxnLst/>
            <a:rect l="0" t="0" r="0" b="0"/>
            <a:pathLst>
              <a:path w="13716" h="246945">
                <a:moveTo>
                  <a:pt x="0" y="0"/>
                </a:moveTo>
                <a:lnTo>
                  <a:pt x="13716" y="0"/>
                </a:lnTo>
                <a:lnTo>
                  <a:pt x="13716" y="246945"/>
                </a:lnTo>
                <a:lnTo>
                  <a:pt x="0" y="246945"/>
                </a:lnTo>
                <a:close/>
              </a:path>
            </a:pathLst>
          </a:custGeom>
          <a:solidFill>
            <a:srgbClr val="0B5C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849A6D2-7643-4C4C-8661-1F1C6F0C9A98}"/>
              </a:ext>
            </a:extLst>
          </p:cNvPr>
          <p:cNvSpPr>
            <a:spLocks noGrp="1"/>
          </p:cNvSpPr>
          <p:nvPr/>
        </p:nvSpPr>
        <p:spPr>
          <a:xfrm>
            <a:off x="3332988" y="3326987"/>
            <a:ext cx="2475738" cy="720281"/>
          </a:xfrm>
          <a:custGeom>
            <a:avLst/>
            <a:gdLst/>
            <a:ahLst/>
            <a:cxnLst/>
            <a:rect l="0" t="0" r="0" b="0"/>
            <a:pathLst>
              <a:path w="2475738" h="720281">
                <a:moveTo>
                  <a:pt x="0" y="57055"/>
                </a:moveTo>
                <a:cubicBezTo>
                  <a:pt x="0" y="25527"/>
                  <a:pt x="25527" y="0"/>
                  <a:pt x="57055" y="0"/>
                </a:cubicBezTo>
                <a:lnTo>
                  <a:pt x="2418683" y="0"/>
                </a:lnTo>
                <a:cubicBezTo>
                  <a:pt x="2450211" y="0"/>
                  <a:pt x="2475738" y="25527"/>
                  <a:pt x="2475738" y="57055"/>
                </a:cubicBezTo>
                <a:lnTo>
                  <a:pt x="2475738" y="663226"/>
                </a:lnTo>
                <a:cubicBezTo>
                  <a:pt x="2475738" y="694658"/>
                  <a:pt x="2450211" y="720281"/>
                  <a:pt x="2418683" y="720281"/>
                </a:cubicBezTo>
                <a:lnTo>
                  <a:pt x="57055" y="720281"/>
                </a:lnTo>
                <a:cubicBezTo>
                  <a:pt x="25527" y="720281"/>
                  <a:pt x="0" y="694658"/>
                  <a:pt x="0" y="663226"/>
                </a:cubicBezTo>
                <a:lnTo>
                  <a:pt x="0" y="57055"/>
                </a:lnTo>
              </a:path>
            </a:pathLst>
          </a:custGeom>
          <a:solidFill>
            <a:srgbClr val="FFFFFF"/>
          </a:solidFill>
          <a:ln w="10716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F41EF80-B4DB-44BB-832E-532CD51D6CD1}"/>
              </a:ext>
            </a:extLst>
          </p:cNvPr>
          <p:cNvSpPr>
            <a:spLocks noGrp="1"/>
          </p:cNvSpPr>
          <p:nvPr/>
        </p:nvSpPr>
        <p:spPr>
          <a:xfrm>
            <a:off x="7461504" y="2819343"/>
            <a:ext cx="13715" cy="246945"/>
          </a:xfrm>
          <a:custGeom>
            <a:avLst/>
            <a:gdLst/>
            <a:ahLst/>
            <a:cxnLst/>
            <a:rect l="0" t="0" r="0" b="0"/>
            <a:pathLst>
              <a:path w="13715" h="246945">
                <a:moveTo>
                  <a:pt x="0" y="0"/>
                </a:moveTo>
                <a:lnTo>
                  <a:pt x="13715" y="0"/>
                </a:lnTo>
                <a:lnTo>
                  <a:pt x="13715" y="246945"/>
                </a:lnTo>
                <a:lnTo>
                  <a:pt x="0" y="246945"/>
                </a:lnTo>
                <a:close/>
              </a:path>
            </a:pathLst>
          </a:custGeom>
          <a:solidFill>
            <a:srgbClr val="0B5C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759FFFAB-2987-4F46-B95B-5929FA8C9260}"/>
              </a:ext>
            </a:extLst>
          </p:cNvPr>
          <p:cNvSpPr>
            <a:spLocks noGrp="1"/>
          </p:cNvSpPr>
          <p:nvPr/>
        </p:nvSpPr>
        <p:spPr>
          <a:xfrm>
            <a:off x="6206490" y="3326987"/>
            <a:ext cx="2468880" cy="720281"/>
          </a:xfrm>
          <a:custGeom>
            <a:avLst/>
            <a:gdLst/>
            <a:ahLst/>
            <a:cxnLst/>
            <a:rect l="0" t="0" r="0" b="0"/>
            <a:pathLst>
              <a:path w="2468880" h="720281">
                <a:moveTo>
                  <a:pt x="0" y="57055"/>
                </a:moveTo>
                <a:cubicBezTo>
                  <a:pt x="0" y="25527"/>
                  <a:pt x="25528" y="0"/>
                  <a:pt x="57055" y="0"/>
                </a:cubicBezTo>
                <a:lnTo>
                  <a:pt x="2411825" y="0"/>
                </a:lnTo>
                <a:cubicBezTo>
                  <a:pt x="2443353" y="0"/>
                  <a:pt x="2468880" y="25527"/>
                  <a:pt x="2468880" y="57055"/>
                </a:cubicBezTo>
                <a:lnTo>
                  <a:pt x="2468880" y="663226"/>
                </a:lnTo>
                <a:cubicBezTo>
                  <a:pt x="2468880" y="694658"/>
                  <a:pt x="2443353" y="720281"/>
                  <a:pt x="2411825" y="720281"/>
                </a:cubicBezTo>
                <a:lnTo>
                  <a:pt x="57055" y="720281"/>
                </a:lnTo>
                <a:cubicBezTo>
                  <a:pt x="25528" y="720281"/>
                  <a:pt x="0" y="694658"/>
                  <a:pt x="0" y="663226"/>
                </a:cubicBezTo>
                <a:lnTo>
                  <a:pt x="0" y="57055"/>
                </a:lnTo>
              </a:path>
            </a:pathLst>
          </a:custGeom>
          <a:solidFill>
            <a:srgbClr val="FFFFFF"/>
          </a:solidFill>
          <a:ln w="10716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62207F0-7F50-4A8A-BBF7-B920467CD39B}"/>
              </a:ext>
            </a:extLst>
          </p:cNvPr>
          <p:cNvSpPr>
            <a:spLocks noGrp="1"/>
          </p:cNvSpPr>
          <p:nvPr/>
        </p:nvSpPr>
        <p:spPr>
          <a:xfrm>
            <a:off x="476250" y="2847975"/>
            <a:ext cx="8191500" cy="471488"/>
          </a:xfrm>
          <a:custGeom>
            <a:avLst/>
            <a:gdLst/>
            <a:ahLst/>
            <a:cxnLst/>
            <a:rect l="0" t="0" r="0" b="0"/>
            <a:pathLst>
              <a:path w="8191500" h="471488">
                <a:moveTo>
                  <a:pt x="0" y="0"/>
                </a:moveTo>
                <a:lnTo>
                  <a:pt x="8191500" y="0"/>
                </a:lnTo>
                <a:lnTo>
                  <a:pt x="8191500" y="471488"/>
                </a:lnTo>
                <a:lnTo>
                  <a:pt x="0" y="471488"/>
                </a:lnTo>
                <a:close/>
              </a:path>
            </a:pathLst>
          </a:cu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BAC401D-9F57-4E65-89C3-747F7D08A5E1}"/>
              </a:ext>
            </a:extLst>
          </p:cNvPr>
          <p:cNvSpPr>
            <a:spLocks noGrp="1"/>
          </p:cNvSpPr>
          <p:nvPr/>
        </p:nvSpPr>
        <p:spPr>
          <a:xfrm>
            <a:off x="476250" y="2847975"/>
            <a:ext cx="8191500" cy="471488"/>
          </a:xfrm>
          <a:custGeom>
            <a:avLst/>
            <a:gdLst/>
            <a:ahLst/>
            <a:cxnLst/>
            <a:rect l="0" t="0" r="0" b="0"/>
            <a:pathLst>
              <a:path w="8191500" h="471488">
                <a:moveTo>
                  <a:pt x="0" y="0"/>
                </a:moveTo>
                <a:lnTo>
                  <a:pt x="8191500" y="0"/>
                </a:lnTo>
                <a:lnTo>
                  <a:pt x="8191500" y="471488"/>
                </a:lnTo>
                <a:lnTo>
                  <a:pt x="0" y="471488"/>
                </a:lnTo>
                <a:close/>
              </a:path>
            </a:pathLst>
          </a:cu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D02FD64-E221-452B-AEB3-8C34F5D27DD2}"/>
              </a:ext>
            </a:extLst>
          </p:cNvPr>
          <p:cNvSpPr>
            <a:spLocks noGrp="1"/>
          </p:cNvSpPr>
          <p:nvPr/>
        </p:nvSpPr>
        <p:spPr>
          <a:xfrm>
            <a:off x="1700784" y="2826163"/>
            <a:ext cx="953" cy="464725"/>
          </a:xfrm>
          <a:custGeom>
            <a:avLst/>
            <a:gdLst/>
            <a:ahLst/>
            <a:cxnLst/>
            <a:rect l="0" t="0" r="0" b="0"/>
            <a:pathLst>
              <a:path w="953" h="464725">
                <a:moveTo>
                  <a:pt x="0" y="0"/>
                </a:moveTo>
                <a:lnTo>
                  <a:pt x="0" y="464725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DABB725-7D7D-4881-964D-6D9EB649926E}"/>
              </a:ext>
            </a:extLst>
          </p:cNvPr>
          <p:cNvSpPr>
            <a:spLocks noGrp="1"/>
          </p:cNvSpPr>
          <p:nvPr/>
        </p:nvSpPr>
        <p:spPr>
          <a:xfrm>
            <a:off x="1700784" y="3243263"/>
            <a:ext cx="28575" cy="47625"/>
          </a:xfrm>
          <a:custGeom>
            <a:avLst/>
            <a:gdLst/>
            <a:ahLst/>
            <a:cxnLst/>
            <a:rect l="0" t="0" r="0" b="0"/>
            <a:pathLst>
              <a:path w="28575" h="47625">
                <a:moveTo>
                  <a:pt x="28575" y="0"/>
                </a:moveTo>
                <a:lnTo>
                  <a:pt x="0" y="47625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53F1437C-4E52-4E2D-9EC6-E71FCA967406}"/>
              </a:ext>
            </a:extLst>
          </p:cNvPr>
          <p:cNvSpPr>
            <a:spLocks noGrp="1"/>
          </p:cNvSpPr>
          <p:nvPr/>
        </p:nvSpPr>
        <p:spPr>
          <a:xfrm>
            <a:off x="1672209" y="3243263"/>
            <a:ext cx="28575" cy="47625"/>
          </a:xfrm>
          <a:custGeom>
            <a:avLst/>
            <a:gdLst/>
            <a:ahLst/>
            <a:cxnLst/>
            <a:rect l="0" t="0" r="0" b="0"/>
            <a:pathLst>
              <a:path w="28575" h="47625">
                <a:moveTo>
                  <a:pt x="0" y="0"/>
                </a:moveTo>
                <a:lnTo>
                  <a:pt x="28575" y="47625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C39FDE1-1788-4B79-983E-55FF28FA8881}"/>
              </a:ext>
            </a:extLst>
          </p:cNvPr>
          <p:cNvSpPr>
            <a:spLocks noGrp="1"/>
          </p:cNvSpPr>
          <p:nvPr/>
        </p:nvSpPr>
        <p:spPr>
          <a:xfrm>
            <a:off x="4570857" y="2826163"/>
            <a:ext cx="953" cy="464725"/>
          </a:xfrm>
          <a:custGeom>
            <a:avLst/>
            <a:gdLst/>
            <a:ahLst/>
            <a:cxnLst/>
            <a:rect l="0" t="0" r="0" b="0"/>
            <a:pathLst>
              <a:path w="953" h="464725">
                <a:moveTo>
                  <a:pt x="0" y="0"/>
                </a:moveTo>
                <a:lnTo>
                  <a:pt x="0" y="464725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212931BE-5051-460B-9F0B-2E6DC623BECA}"/>
              </a:ext>
            </a:extLst>
          </p:cNvPr>
          <p:cNvSpPr>
            <a:spLocks noGrp="1"/>
          </p:cNvSpPr>
          <p:nvPr/>
        </p:nvSpPr>
        <p:spPr>
          <a:xfrm>
            <a:off x="4570857" y="3243263"/>
            <a:ext cx="28575" cy="47625"/>
          </a:xfrm>
          <a:custGeom>
            <a:avLst/>
            <a:gdLst/>
            <a:ahLst/>
            <a:cxnLst/>
            <a:rect l="0" t="0" r="0" b="0"/>
            <a:pathLst>
              <a:path w="28575" h="47625">
                <a:moveTo>
                  <a:pt x="28575" y="0"/>
                </a:moveTo>
                <a:lnTo>
                  <a:pt x="0" y="47625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DD2B3125-0DFB-4704-8ACA-3F7055084CE2}"/>
              </a:ext>
            </a:extLst>
          </p:cNvPr>
          <p:cNvSpPr>
            <a:spLocks noGrp="1"/>
          </p:cNvSpPr>
          <p:nvPr/>
        </p:nvSpPr>
        <p:spPr>
          <a:xfrm>
            <a:off x="4542282" y="3243263"/>
            <a:ext cx="28575" cy="47625"/>
          </a:xfrm>
          <a:custGeom>
            <a:avLst/>
            <a:gdLst/>
            <a:ahLst/>
            <a:cxnLst/>
            <a:rect l="0" t="0" r="0" b="0"/>
            <a:pathLst>
              <a:path w="28575" h="47625">
                <a:moveTo>
                  <a:pt x="0" y="0"/>
                </a:moveTo>
                <a:lnTo>
                  <a:pt x="28575" y="47625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CCEFFE71-D2A9-446C-AA99-9F547B44DED7}"/>
              </a:ext>
            </a:extLst>
          </p:cNvPr>
          <p:cNvSpPr>
            <a:spLocks noGrp="1"/>
          </p:cNvSpPr>
          <p:nvPr/>
        </p:nvSpPr>
        <p:spPr>
          <a:xfrm>
            <a:off x="7440930" y="2826163"/>
            <a:ext cx="953" cy="464725"/>
          </a:xfrm>
          <a:custGeom>
            <a:avLst/>
            <a:gdLst/>
            <a:ahLst/>
            <a:cxnLst/>
            <a:rect l="0" t="0" r="0" b="0"/>
            <a:pathLst>
              <a:path w="953" h="464725">
                <a:moveTo>
                  <a:pt x="0" y="0"/>
                </a:moveTo>
                <a:lnTo>
                  <a:pt x="0" y="464725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A8F5EF44-DFB7-4190-B240-227B3F6C6152}"/>
              </a:ext>
            </a:extLst>
          </p:cNvPr>
          <p:cNvSpPr>
            <a:spLocks noGrp="1"/>
          </p:cNvSpPr>
          <p:nvPr/>
        </p:nvSpPr>
        <p:spPr>
          <a:xfrm>
            <a:off x="7440930" y="3243263"/>
            <a:ext cx="28575" cy="47625"/>
          </a:xfrm>
          <a:custGeom>
            <a:avLst/>
            <a:gdLst/>
            <a:ahLst/>
            <a:cxnLst/>
            <a:rect l="0" t="0" r="0" b="0"/>
            <a:pathLst>
              <a:path w="28575" h="47625">
                <a:moveTo>
                  <a:pt x="28575" y="0"/>
                </a:moveTo>
                <a:lnTo>
                  <a:pt x="0" y="47625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E704E85D-FAE2-4348-A2D8-FFE5DFEB2EF6}"/>
              </a:ext>
            </a:extLst>
          </p:cNvPr>
          <p:cNvSpPr>
            <a:spLocks noGrp="1"/>
          </p:cNvSpPr>
          <p:nvPr/>
        </p:nvSpPr>
        <p:spPr>
          <a:xfrm>
            <a:off x="7412355" y="3243263"/>
            <a:ext cx="28575" cy="47625"/>
          </a:xfrm>
          <a:custGeom>
            <a:avLst/>
            <a:gdLst/>
            <a:ahLst/>
            <a:cxnLst/>
            <a:rect l="0" t="0" r="0" b="0"/>
            <a:pathLst>
              <a:path w="28575" h="47625">
                <a:moveTo>
                  <a:pt x="0" y="0"/>
                </a:moveTo>
                <a:lnTo>
                  <a:pt x="28575" y="47625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26750F68-3D9E-44FC-B6C3-4B3415A58C41}"/>
              </a:ext>
            </a:extLst>
          </p:cNvPr>
          <p:cNvSpPr>
            <a:spLocks noGrp="1"/>
          </p:cNvSpPr>
          <p:nvPr/>
        </p:nvSpPr>
        <p:spPr>
          <a:xfrm>
            <a:off x="2954274" y="3687128"/>
            <a:ext cx="359664" cy="953"/>
          </a:xfrm>
          <a:custGeom>
            <a:avLst/>
            <a:gdLst/>
            <a:ahLst/>
            <a:cxnLst/>
            <a:rect l="0" t="0" r="0" b="0"/>
            <a:pathLst>
              <a:path w="359664" h="953">
                <a:moveTo>
                  <a:pt x="0" y="0"/>
                </a:moveTo>
                <a:lnTo>
                  <a:pt x="359664" y="0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737D2EA9-300B-4890-B2EE-F6E9A95E85E5}"/>
              </a:ext>
            </a:extLst>
          </p:cNvPr>
          <p:cNvSpPr>
            <a:spLocks noGrp="1"/>
          </p:cNvSpPr>
          <p:nvPr/>
        </p:nvSpPr>
        <p:spPr>
          <a:xfrm>
            <a:off x="2954274" y="368712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47625" y="28575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493B881-993C-4F48-AFD6-603BE6BB68FF}"/>
              </a:ext>
            </a:extLst>
          </p:cNvPr>
          <p:cNvSpPr>
            <a:spLocks noGrp="1"/>
          </p:cNvSpPr>
          <p:nvPr/>
        </p:nvSpPr>
        <p:spPr>
          <a:xfrm>
            <a:off x="2954274" y="3658553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47625" y="0"/>
                </a:moveTo>
                <a:lnTo>
                  <a:pt x="0" y="28575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AAFF838D-5F73-4976-AE57-D4E40B131205}"/>
              </a:ext>
            </a:extLst>
          </p:cNvPr>
          <p:cNvSpPr>
            <a:spLocks noGrp="1"/>
          </p:cNvSpPr>
          <p:nvPr/>
        </p:nvSpPr>
        <p:spPr>
          <a:xfrm>
            <a:off x="3266313" y="3658553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47625" y="28575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80B9D1B-4AD2-4F6B-9035-17EF21E8D117}"/>
              </a:ext>
            </a:extLst>
          </p:cNvPr>
          <p:cNvSpPr>
            <a:spLocks noGrp="1"/>
          </p:cNvSpPr>
          <p:nvPr/>
        </p:nvSpPr>
        <p:spPr>
          <a:xfrm>
            <a:off x="3266313" y="368712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28575"/>
                </a:moveTo>
                <a:lnTo>
                  <a:pt x="47625" y="0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852006DC-35FE-4DF6-B77E-8C77437FA39B}"/>
              </a:ext>
            </a:extLst>
          </p:cNvPr>
          <p:cNvSpPr>
            <a:spLocks noGrp="1"/>
          </p:cNvSpPr>
          <p:nvPr/>
        </p:nvSpPr>
        <p:spPr>
          <a:xfrm>
            <a:off x="5827776" y="3687128"/>
            <a:ext cx="359664" cy="953"/>
          </a:xfrm>
          <a:custGeom>
            <a:avLst/>
            <a:gdLst/>
            <a:ahLst/>
            <a:cxnLst/>
            <a:rect l="0" t="0" r="0" b="0"/>
            <a:pathLst>
              <a:path w="359664" h="953">
                <a:moveTo>
                  <a:pt x="0" y="0"/>
                </a:moveTo>
                <a:lnTo>
                  <a:pt x="359664" y="0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1A7C7DF0-1103-4F17-AEEB-52F54DF8B04E}"/>
              </a:ext>
            </a:extLst>
          </p:cNvPr>
          <p:cNvSpPr>
            <a:spLocks noGrp="1"/>
          </p:cNvSpPr>
          <p:nvPr/>
        </p:nvSpPr>
        <p:spPr>
          <a:xfrm>
            <a:off x="5827776" y="368712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47625" y="28575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6C4338E-33AF-466C-B624-93AFF5AAFF79}"/>
              </a:ext>
            </a:extLst>
          </p:cNvPr>
          <p:cNvSpPr>
            <a:spLocks noGrp="1"/>
          </p:cNvSpPr>
          <p:nvPr/>
        </p:nvSpPr>
        <p:spPr>
          <a:xfrm>
            <a:off x="5827776" y="3658553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47625" y="0"/>
                </a:moveTo>
                <a:lnTo>
                  <a:pt x="0" y="28575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8B8C3D21-A27C-4826-9E07-51C22B6C9FA9}"/>
              </a:ext>
            </a:extLst>
          </p:cNvPr>
          <p:cNvSpPr>
            <a:spLocks noGrp="1"/>
          </p:cNvSpPr>
          <p:nvPr/>
        </p:nvSpPr>
        <p:spPr>
          <a:xfrm>
            <a:off x="6139815" y="3658553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47625" y="28575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2912FD2-8FF3-4FF9-BD4A-C08428757359}"/>
              </a:ext>
            </a:extLst>
          </p:cNvPr>
          <p:cNvSpPr>
            <a:spLocks noGrp="1"/>
          </p:cNvSpPr>
          <p:nvPr/>
        </p:nvSpPr>
        <p:spPr>
          <a:xfrm>
            <a:off x="6139815" y="368712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28575"/>
                </a:moveTo>
                <a:lnTo>
                  <a:pt x="47625" y="0"/>
                </a:lnTo>
              </a:path>
            </a:pathLst>
          </a:custGeom>
          <a:noFill/>
          <a:ln w="15240">
            <a:solidFill>
              <a:srgbClr val="0B5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122D23A-5BB9-43AD-8CA5-3CA7402464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sp>
        <p:nvSpPr>
          <p:cNvPr id="34" name="Three Agentic AI tools use the same source">
            <a:extLst>
              <a:ext uri="{FF2B5EF4-FFF2-40B4-BE49-F238E27FC236}">
                <a16:creationId xmlns:a16="http://schemas.microsoft.com/office/drawing/2014/main" id="{B7E71D89-02C3-4804-9975-C864AE6A2045}"/>
              </a:ext>
            </a:extLst>
          </p:cNvPr>
          <p:cNvSpPr>
            <a:spLocks noGrp="1"/>
          </p:cNvSpPr>
          <p:nvPr/>
        </p:nvSpPr>
        <p:spPr>
          <a:xfrm>
            <a:off x="525942" y="340791"/>
            <a:ext cx="7064545" cy="4258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Three Agentic AI tools use the same source</a:t>
            </a:r>
          </a:p>
        </p:txBody>
      </p:sp>
      <p:sp>
        <p:nvSpPr>
          <p:cNvPr id="35" name="11">
            <a:extLst>
              <a:ext uri="{FF2B5EF4-FFF2-40B4-BE49-F238E27FC236}">
                <a16:creationId xmlns:a16="http://schemas.microsoft.com/office/drawing/2014/main" id="{4EB8788A-F298-4DB5-BB08-3B271AD801BF}"/>
              </a:ext>
            </a:extLst>
          </p:cNvPr>
          <p:cNvSpPr>
            <a:spLocks noGrp="1"/>
          </p:cNvSpPr>
          <p:nvPr/>
        </p:nvSpPr>
        <p:spPr>
          <a:xfrm>
            <a:off x="525942" y="4856879"/>
            <a:ext cx="199222" cy="192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11</a:t>
            </a:r>
          </a:p>
        </p:txBody>
      </p:sp>
      <p:sp>
        <p:nvSpPr>
          <p:cNvPr id="36" name="USER PROMPT: Who has transportation-planning experience?">
            <a:extLst>
              <a:ext uri="{FF2B5EF4-FFF2-40B4-BE49-F238E27FC236}">
                <a16:creationId xmlns:a16="http://schemas.microsoft.com/office/drawing/2014/main" id="{029F81C0-2DF2-4D3E-93BB-8068698E699A}"/>
              </a:ext>
            </a:extLst>
          </p:cNvPr>
          <p:cNvSpPr>
            <a:spLocks noGrp="1"/>
          </p:cNvSpPr>
          <p:nvPr/>
        </p:nvSpPr>
        <p:spPr>
          <a:xfrm>
            <a:off x="690534" y="1214198"/>
            <a:ext cx="6012112" cy="2842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35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35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USER PROMPT: Who has transportation-planning experience?</a:t>
            </a:r>
          </a:p>
        </p:txBody>
      </p:sp>
      <p:sp>
        <p:nvSpPr>
          <p:cNvPr id="37" name="Permissioned SBT repository / ">
            <a:extLst>
              <a:ext uri="{FF2B5EF4-FFF2-40B4-BE49-F238E27FC236}">
                <a16:creationId xmlns:a16="http://schemas.microsoft.com/office/drawing/2014/main" id="{AEF04252-1CD7-43C3-80D8-B21A58D78D5D}"/>
              </a:ext>
            </a:extLst>
          </p:cNvPr>
          <p:cNvSpPr>
            <a:spLocks noGrp="1"/>
          </p:cNvSpPr>
          <p:nvPr/>
        </p:nvSpPr>
        <p:spPr>
          <a:xfrm>
            <a:off x="3099691" y="2108492"/>
            <a:ext cx="2913756" cy="29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0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406" b="1" i="0" dirty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Permissioned SBT repository</a:t>
            </a:r>
          </a:p>
        </p:txBody>
      </p:sp>
      <p:sp>
        <p:nvSpPr>
          <p:cNvPr id="39" name="↓">
            <a:extLst>
              <a:ext uri="{FF2B5EF4-FFF2-40B4-BE49-F238E27FC236}">
                <a16:creationId xmlns:a16="http://schemas.microsoft.com/office/drawing/2014/main" id="{BA8700F3-F316-4685-9EAB-8EC8FA558309}"/>
              </a:ext>
            </a:extLst>
          </p:cNvPr>
          <p:cNvSpPr>
            <a:spLocks noGrp="1"/>
          </p:cNvSpPr>
          <p:nvPr/>
        </p:nvSpPr>
        <p:spPr>
          <a:xfrm>
            <a:off x="4490390" y="1622114"/>
            <a:ext cx="189476" cy="328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84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84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1784" b="1" i="0" dirty="0">
                <a:solidFill>
                  <a:srgbClr val="0B5C6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0" name="Agentic AI tool A">
            <a:extLst>
              <a:ext uri="{FF2B5EF4-FFF2-40B4-BE49-F238E27FC236}">
                <a16:creationId xmlns:a16="http://schemas.microsoft.com/office/drawing/2014/main" id="{DAE34E1C-82B7-4595-A6A2-90FC825B100D}"/>
              </a:ext>
            </a:extLst>
          </p:cNvPr>
          <p:cNvSpPr>
            <a:spLocks noGrp="1"/>
          </p:cNvSpPr>
          <p:nvPr/>
        </p:nvSpPr>
        <p:spPr>
          <a:xfrm>
            <a:off x="690534" y="3475174"/>
            <a:ext cx="1844770" cy="3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46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Agentic AI tool A</a:t>
            </a:r>
          </a:p>
        </p:txBody>
      </p:sp>
      <p:sp>
        <p:nvSpPr>
          <p:cNvPr id="41" name="Retrieve, reason and cite">
            <a:extLst>
              <a:ext uri="{FF2B5EF4-FFF2-40B4-BE49-F238E27FC236}">
                <a16:creationId xmlns:a16="http://schemas.microsoft.com/office/drawing/2014/main" id="{4E9AAF70-DDC9-4BC5-AC32-D37C1F689F9C}"/>
              </a:ext>
            </a:extLst>
          </p:cNvPr>
          <p:cNvSpPr>
            <a:spLocks noGrp="1"/>
          </p:cNvSpPr>
          <p:nvPr/>
        </p:nvSpPr>
        <p:spPr>
          <a:xfrm>
            <a:off x="690534" y="3804347"/>
            <a:ext cx="1689546" cy="234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2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02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028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Retrieve, reason and cite</a:t>
            </a:r>
          </a:p>
        </p:txBody>
      </p:sp>
      <p:sp>
        <p:nvSpPr>
          <p:cNvPr id="42" name="Answer A + source ">
            <a:extLst>
              <a:ext uri="{FF2B5EF4-FFF2-40B4-BE49-F238E27FC236}">
                <a16:creationId xmlns:a16="http://schemas.microsoft.com/office/drawing/2014/main" id="{6859DFB0-52D3-4A27-8A09-FECF97D52979}"/>
              </a:ext>
            </a:extLst>
          </p:cNvPr>
          <p:cNvSpPr>
            <a:spLocks noGrp="1"/>
          </p:cNvSpPr>
          <p:nvPr/>
        </p:nvSpPr>
        <p:spPr>
          <a:xfrm>
            <a:off x="533267" y="4269382"/>
            <a:ext cx="1802203" cy="2676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Answer A + source </a:t>
            </a:r>
          </a:p>
        </p:txBody>
      </p:sp>
      <p:sp>
        <p:nvSpPr>
          <p:cNvPr id="43" name="references">
            <a:extLst>
              <a:ext uri="{FF2B5EF4-FFF2-40B4-BE49-F238E27FC236}">
                <a16:creationId xmlns:a16="http://schemas.microsoft.com/office/drawing/2014/main" id="{F56AF79A-4FC1-4922-930E-68E93F3C44C0}"/>
              </a:ext>
            </a:extLst>
          </p:cNvPr>
          <p:cNvSpPr>
            <a:spLocks noGrp="1"/>
          </p:cNvSpPr>
          <p:nvPr/>
        </p:nvSpPr>
        <p:spPr>
          <a:xfrm>
            <a:off x="533267" y="4454776"/>
            <a:ext cx="1019925" cy="2676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references</a:t>
            </a:r>
          </a:p>
        </p:txBody>
      </p:sp>
      <p:sp>
        <p:nvSpPr>
          <p:cNvPr id="44" name="Agentic AI tool B">
            <a:extLst>
              <a:ext uri="{FF2B5EF4-FFF2-40B4-BE49-F238E27FC236}">
                <a16:creationId xmlns:a16="http://schemas.microsoft.com/office/drawing/2014/main" id="{D58ADB89-325F-46CA-A943-DF5D34626D47}"/>
              </a:ext>
            </a:extLst>
          </p:cNvPr>
          <p:cNvSpPr>
            <a:spLocks noGrp="1"/>
          </p:cNvSpPr>
          <p:nvPr/>
        </p:nvSpPr>
        <p:spPr>
          <a:xfrm>
            <a:off x="3563779" y="3475174"/>
            <a:ext cx="1842176" cy="3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46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Agentic AI tool B</a:t>
            </a:r>
          </a:p>
        </p:txBody>
      </p:sp>
      <p:sp>
        <p:nvSpPr>
          <p:cNvPr id="45" name="Retrieve, reason and cite">
            <a:extLst>
              <a:ext uri="{FF2B5EF4-FFF2-40B4-BE49-F238E27FC236}">
                <a16:creationId xmlns:a16="http://schemas.microsoft.com/office/drawing/2014/main" id="{6CA6DFE6-3543-4289-AEF3-B81E571FC9D1}"/>
              </a:ext>
            </a:extLst>
          </p:cNvPr>
          <p:cNvSpPr>
            <a:spLocks noGrp="1"/>
          </p:cNvSpPr>
          <p:nvPr/>
        </p:nvSpPr>
        <p:spPr>
          <a:xfrm>
            <a:off x="3563779" y="3804347"/>
            <a:ext cx="1689545" cy="234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2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02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028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Retrieve, reason and cite</a:t>
            </a:r>
          </a:p>
        </p:txBody>
      </p:sp>
      <p:sp>
        <p:nvSpPr>
          <p:cNvPr id="46" name="Answer B + source ">
            <a:extLst>
              <a:ext uri="{FF2B5EF4-FFF2-40B4-BE49-F238E27FC236}">
                <a16:creationId xmlns:a16="http://schemas.microsoft.com/office/drawing/2014/main" id="{B182627E-8D5A-44DE-891B-2B9D4FBE66D0}"/>
              </a:ext>
            </a:extLst>
          </p:cNvPr>
          <p:cNvSpPr>
            <a:spLocks noGrp="1"/>
          </p:cNvSpPr>
          <p:nvPr/>
        </p:nvSpPr>
        <p:spPr>
          <a:xfrm>
            <a:off x="3406521" y="4269382"/>
            <a:ext cx="1795410" cy="2676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Answer B + source </a:t>
            </a:r>
          </a:p>
        </p:txBody>
      </p:sp>
      <p:sp>
        <p:nvSpPr>
          <p:cNvPr id="47" name="references">
            <a:extLst>
              <a:ext uri="{FF2B5EF4-FFF2-40B4-BE49-F238E27FC236}">
                <a16:creationId xmlns:a16="http://schemas.microsoft.com/office/drawing/2014/main" id="{4B10E33B-8B56-4B1B-A4E5-83F26C1E30AC}"/>
              </a:ext>
            </a:extLst>
          </p:cNvPr>
          <p:cNvSpPr>
            <a:spLocks noGrp="1"/>
          </p:cNvSpPr>
          <p:nvPr/>
        </p:nvSpPr>
        <p:spPr>
          <a:xfrm>
            <a:off x="3406521" y="4454776"/>
            <a:ext cx="1019926" cy="2676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references</a:t>
            </a:r>
          </a:p>
        </p:txBody>
      </p:sp>
      <p:sp>
        <p:nvSpPr>
          <p:cNvPr id="48" name="Agentic AI tool C">
            <a:extLst>
              <a:ext uri="{FF2B5EF4-FFF2-40B4-BE49-F238E27FC236}">
                <a16:creationId xmlns:a16="http://schemas.microsoft.com/office/drawing/2014/main" id="{4CB52F7B-4985-4B9D-B87B-44A3FBB56F1C}"/>
              </a:ext>
            </a:extLst>
          </p:cNvPr>
          <p:cNvSpPr>
            <a:spLocks noGrp="1"/>
          </p:cNvSpPr>
          <p:nvPr/>
        </p:nvSpPr>
        <p:spPr>
          <a:xfrm>
            <a:off x="6436805" y="3475174"/>
            <a:ext cx="1837912" cy="3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0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1460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Agentic AI tool C</a:t>
            </a:r>
          </a:p>
        </p:txBody>
      </p:sp>
      <p:sp>
        <p:nvSpPr>
          <p:cNvPr id="49" name="Retrieve, reason and cite">
            <a:extLst>
              <a:ext uri="{FF2B5EF4-FFF2-40B4-BE49-F238E27FC236}">
                <a16:creationId xmlns:a16="http://schemas.microsoft.com/office/drawing/2014/main" id="{246382E3-5F78-42D8-AC18-44C219C981BF}"/>
              </a:ext>
            </a:extLst>
          </p:cNvPr>
          <p:cNvSpPr>
            <a:spLocks noGrp="1"/>
          </p:cNvSpPr>
          <p:nvPr/>
        </p:nvSpPr>
        <p:spPr>
          <a:xfrm>
            <a:off x="6436805" y="3804347"/>
            <a:ext cx="1695420" cy="234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2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028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028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Retrieve, reason and cite</a:t>
            </a:r>
          </a:p>
        </p:txBody>
      </p:sp>
      <p:sp>
        <p:nvSpPr>
          <p:cNvPr id="50" name="Answer C + source ">
            <a:extLst>
              <a:ext uri="{FF2B5EF4-FFF2-40B4-BE49-F238E27FC236}">
                <a16:creationId xmlns:a16="http://schemas.microsoft.com/office/drawing/2014/main" id="{5DE9AFD4-702B-4786-ADF4-0ECD3F74ADBA}"/>
              </a:ext>
            </a:extLst>
          </p:cNvPr>
          <p:cNvSpPr>
            <a:spLocks noGrp="1"/>
          </p:cNvSpPr>
          <p:nvPr/>
        </p:nvSpPr>
        <p:spPr>
          <a:xfrm>
            <a:off x="6279547" y="4269382"/>
            <a:ext cx="1792724" cy="2676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Answer C + source </a:t>
            </a:r>
          </a:p>
        </p:txBody>
      </p:sp>
      <p:sp>
        <p:nvSpPr>
          <p:cNvPr id="51" name="references">
            <a:extLst>
              <a:ext uri="{FF2B5EF4-FFF2-40B4-BE49-F238E27FC236}">
                <a16:creationId xmlns:a16="http://schemas.microsoft.com/office/drawing/2014/main" id="{8E0030B3-C750-4421-8534-925F959ECF4E}"/>
              </a:ext>
            </a:extLst>
          </p:cNvPr>
          <p:cNvSpPr>
            <a:spLocks noGrp="1"/>
          </p:cNvSpPr>
          <p:nvPr/>
        </p:nvSpPr>
        <p:spPr>
          <a:xfrm>
            <a:off x="6279547" y="4454776"/>
            <a:ext cx="1021822" cy="2676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24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references</a:t>
            </a:r>
          </a:p>
        </p:txBody>
      </p:sp>
      <p:sp>
        <p:nvSpPr>
          <p:cNvPr id="52" name="APIs">
            <a:extLst>
              <a:ext uri="{FF2B5EF4-FFF2-40B4-BE49-F238E27FC236}">
                <a16:creationId xmlns:a16="http://schemas.microsoft.com/office/drawing/2014/main" id="{A9CDA66E-07EF-4021-AC59-58174DADABE8}"/>
              </a:ext>
            </a:extLst>
          </p:cNvPr>
          <p:cNvSpPr>
            <a:spLocks noGrp="1"/>
          </p:cNvSpPr>
          <p:nvPr/>
        </p:nvSpPr>
        <p:spPr>
          <a:xfrm>
            <a:off x="1805559" y="2982182"/>
            <a:ext cx="351463" cy="2467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75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5C6B"/>
                </a:solidFill>
                <a:latin typeface="Arial"/>
                <a:ea typeface="Arial"/>
                <a:cs typeface="Arial"/>
              </a:rPr>
              <a:t>APIs</a:t>
            </a:r>
          </a:p>
        </p:txBody>
      </p:sp>
      <p:sp>
        <p:nvSpPr>
          <p:cNvPr id="53" name="APIs">
            <a:extLst>
              <a:ext uri="{FF2B5EF4-FFF2-40B4-BE49-F238E27FC236}">
                <a16:creationId xmlns:a16="http://schemas.microsoft.com/office/drawing/2014/main" id="{F19EFA0C-9553-4651-A704-BB6E98F761CE}"/>
              </a:ext>
            </a:extLst>
          </p:cNvPr>
          <p:cNvSpPr>
            <a:spLocks noGrp="1"/>
          </p:cNvSpPr>
          <p:nvPr/>
        </p:nvSpPr>
        <p:spPr>
          <a:xfrm>
            <a:off x="4675632" y="2982182"/>
            <a:ext cx="351463" cy="2467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75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5C6B"/>
                </a:solidFill>
                <a:latin typeface="Arial"/>
                <a:ea typeface="Arial"/>
                <a:cs typeface="Arial"/>
              </a:rPr>
              <a:t>APIs</a:t>
            </a:r>
          </a:p>
        </p:txBody>
      </p:sp>
      <p:sp>
        <p:nvSpPr>
          <p:cNvPr id="54" name="APIs">
            <a:extLst>
              <a:ext uri="{FF2B5EF4-FFF2-40B4-BE49-F238E27FC236}">
                <a16:creationId xmlns:a16="http://schemas.microsoft.com/office/drawing/2014/main" id="{30C80DAD-C92E-4948-A90D-8F2083C7A11D}"/>
              </a:ext>
            </a:extLst>
          </p:cNvPr>
          <p:cNvSpPr>
            <a:spLocks noGrp="1"/>
          </p:cNvSpPr>
          <p:nvPr/>
        </p:nvSpPr>
        <p:spPr>
          <a:xfrm>
            <a:off x="7545705" y="2982182"/>
            <a:ext cx="351463" cy="2467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75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5C6B"/>
                </a:solidFill>
                <a:latin typeface="Arial"/>
                <a:ea typeface="Arial"/>
                <a:cs typeface="Arial"/>
              </a:rPr>
              <a:t>APIs</a:t>
            </a:r>
          </a:p>
        </p:txBody>
      </p:sp>
      <p:sp>
        <p:nvSpPr>
          <p:cNvPr id="55" name="MCP &amp; A2A Interfaces">
            <a:extLst>
              <a:ext uri="{FF2B5EF4-FFF2-40B4-BE49-F238E27FC236}">
                <a16:creationId xmlns:a16="http://schemas.microsoft.com/office/drawing/2014/main" id="{81BFDC9D-F730-4335-8397-EF945DF862C4}"/>
              </a:ext>
            </a:extLst>
          </p:cNvPr>
          <p:cNvSpPr>
            <a:spLocks noGrp="1"/>
          </p:cNvSpPr>
          <p:nvPr/>
        </p:nvSpPr>
        <p:spPr>
          <a:xfrm>
            <a:off x="2562606" y="4057650"/>
            <a:ext cx="12192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750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750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B5C6B"/>
                </a:solidFill>
                <a:latin typeface="Arial"/>
                <a:ea typeface="Arial"/>
                <a:cs typeface="Arial"/>
              </a:rPr>
              <a:t>MCP &amp; A2A Interfaces</a:t>
            </a:r>
          </a:p>
        </p:txBody>
      </p:sp>
      <p:sp>
        <p:nvSpPr>
          <p:cNvPr id="56" name="MCP &amp; A2A Interfaces">
            <a:extLst>
              <a:ext uri="{FF2B5EF4-FFF2-40B4-BE49-F238E27FC236}">
                <a16:creationId xmlns:a16="http://schemas.microsoft.com/office/drawing/2014/main" id="{410CE786-ABAA-43C8-BFB0-9323A5A3847B}"/>
              </a:ext>
            </a:extLst>
          </p:cNvPr>
          <p:cNvSpPr>
            <a:spLocks noGrp="1"/>
          </p:cNvSpPr>
          <p:nvPr/>
        </p:nvSpPr>
        <p:spPr>
          <a:xfrm>
            <a:off x="5436108" y="4057650"/>
            <a:ext cx="12192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750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750" b="1" i="0">
                <a:solidFill>
                  <a:srgbClr val="0B5C6B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B5C6B"/>
                </a:solidFill>
                <a:latin typeface="Arial"/>
                <a:ea typeface="Arial"/>
                <a:cs typeface="Arial"/>
              </a:rPr>
              <a:t>MCP &amp; A2A Interfaces</a:t>
            </a:r>
          </a:p>
        </p:txBody>
      </p:sp>
    </p:spTree>
    <p:extLst>
      <p:ext uri="{BB962C8B-B14F-4D97-AF65-F5344CB8AC3E}">
        <p14:creationId xmlns:p14="http://schemas.microsoft.com/office/powerpoint/2010/main" val="672816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45C3A832-7598-4EF0-8F45-E621D23BD90D}"/>
              </a:ext>
            </a:extLst>
          </p:cNvPr>
          <p:cNvSpPr>
            <a:spLocks noGrp="1"/>
          </p:cNvSpPr>
          <p:nvPr/>
        </p:nvSpPr>
        <p:spPr>
          <a:xfrm>
            <a:off x="0" y="-47"/>
            <a:ext cx="9141714" cy="5144834"/>
          </a:xfrm>
          <a:custGeom>
            <a:avLst/>
            <a:gdLst/>
            <a:ahLst/>
            <a:cxnLst/>
            <a:rect l="0" t="0" r="0" b="0"/>
            <a:pathLst>
              <a:path w="9141714" h="5144834">
                <a:moveTo>
                  <a:pt x="0" y="0"/>
                </a:moveTo>
                <a:lnTo>
                  <a:pt x="9141714" y="0"/>
                </a:lnTo>
                <a:lnTo>
                  <a:pt x="9141714" y="5144834"/>
                </a:lnTo>
                <a:lnTo>
                  <a:pt x="0" y="5144834"/>
                </a:lnTo>
                <a:close/>
              </a:path>
            </a:pathLst>
          </a:cu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83C251-88B1-459D-A24C-77D0BBFDD1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sp>
        <p:nvSpPr>
          <p:cNvPr id="3" name="Your identity needs governance">
            <a:extLst>
              <a:ext uri="{FF2B5EF4-FFF2-40B4-BE49-F238E27FC236}">
                <a16:creationId xmlns:a16="http://schemas.microsoft.com/office/drawing/2014/main" id="{DF4F8D1C-13CD-48AD-B713-58FC5C447CD9}"/>
              </a:ext>
            </a:extLst>
          </p:cNvPr>
          <p:cNvSpPr>
            <a:spLocks noGrp="1"/>
          </p:cNvSpPr>
          <p:nvPr/>
        </p:nvSpPr>
        <p:spPr>
          <a:xfrm>
            <a:off x="525942" y="340791"/>
            <a:ext cx="5184309" cy="4258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defRPr>
            </a:pPr>
            <a:r>
              <a:rPr sz="2272" b="1" i="0">
                <a:solidFill>
                  <a:srgbClr val="14213D"/>
                </a:solidFill>
                <a:latin typeface="Verdana"/>
                <a:ea typeface="Verdana"/>
                <a:cs typeface="Verdana"/>
              </a:rPr>
              <a:t>Your identity needs governance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89D9BC28-0D7C-47B4-9A9F-07E339AF6FC4}"/>
              </a:ext>
            </a:extLst>
          </p:cNvPr>
          <p:cNvSpPr>
            <a:spLocks noGrp="1"/>
          </p:cNvSpPr>
          <p:nvPr/>
        </p:nvSpPr>
        <p:spPr>
          <a:xfrm>
            <a:off x="525942" y="4856879"/>
            <a:ext cx="199222" cy="192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defRPr>
            </a:pPr>
            <a:r>
              <a:rPr sz="756" b="0" i="0">
                <a:solidFill>
                  <a:srgbClr val="5A6573"/>
                </a:solidFill>
                <a:latin typeface="Verdana"/>
                <a:ea typeface="Verdana"/>
                <a:cs typeface="Verdana"/>
              </a:rPr>
              <a:t>12</a:t>
            </a:r>
          </a:p>
        </p:txBody>
      </p:sp>
      <p:sp>
        <p:nvSpPr>
          <p:cNvPr id="5" name="Your record">
            <a:extLst>
              <a:ext uri="{FF2B5EF4-FFF2-40B4-BE49-F238E27FC236}">
                <a16:creationId xmlns:a16="http://schemas.microsoft.com/office/drawing/2014/main" id="{97910FEC-EAC2-4B03-A97D-573873352D90}"/>
              </a:ext>
            </a:extLst>
          </p:cNvPr>
          <p:cNvSpPr>
            <a:spLocks noGrp="1"/>
          </p:cNvSpPr>
          <p:nvPr/>
        </p:nvSpPr>
        <p:spPr>
          <a:xfrm>
            <a:off x="611781" y="1285293"/>
            <a:ext cx="1349589" cy="3095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6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Your record</a:t>
            </a:r>
          </a:p>
        </p:txBody>
      </p:sp>
      <p:sp>
        <p:nvSpPr>
          <p:cNvPr id="6" name="Define claims and approve the canonical source. ">
            <a:extLst>
              <a:ext uri="{FF2B5EF4-FFF2-40B4-BE49-F238E27FC236}">
                <a16:creationId xmlns:a16="http://schemas.microsoft.com/office/drawing/2014/main" id="{C74DF4F8-1239-445F-A454-FC5EBF5A4DEE}"/>
              </a:ext>
            </a:extLst>
          </p:cNvPr>
          <p:cNvSpPr>
            <a:spLocks noGrp="1"/>
          </p:cNvSpPr>
          <p:nvPr/>
        </p:nvSpPr>
        <p:spPr>
          <a:xfrm>
            <a:off x="3199162" y="1285328"/>
            <a:ext cx="4664347" cy="3011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Define claims and approve the canonical source. </a:t>
            </a:r>
          </a:p>
        </p:txBody>
      </p:sp>
      <p:sp>
        <p:nvSpPr>
          <p:cNvPr id="7" name="Correct and version it when your experience changes.">
            <a:extLst>
              <a:ext uri="{FF2B5EF4-FFF2-40B4-BE49-F238E27FC236}">
                <a16:creationId xmlns:a16="http://schemas.microsoft.com/office/drawing/2014/main" id="{1A51599A-23E3-4DC6-8101-ADD97F5D9385}"/>
              </a:ext>
            </a:extLst>
          </p:cNvPr>
          <p:cNvSpPr>
            <a:spLocks noGrp="1"/>
          </p:cNvSpPr>
          <p:nvPr/>
        </p:nvSpPr>
        <p:spPr>
          <a:xfrm>
            <a:off x="3199162" y="1505499"/>
            <a:ext cx="5127907" cy="3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Correct and version it when your experience changes.</a:t>
            </a:r>
          </a:p>
        </p:txBody>
      </p:sp>
      <p:sp>
        <p:nvSpPr>
          <p:cNvPr id="8" name="Your permissions">
            <a:extLst>
              <a:ext uri="{FF2B5EF4-FFF2-40B4-BE49-F238E27FC236}">
                <a16:creationId xmlns:a16="http://schemas.microsoft.com/office/drawing/2014/main" id="{2B48F1C6-55FA-4964-9245-BC2F14124779}"/>
              </a:ext>
            </a:extLst>
          </p:cNvPr>
          <p:cNvSpPr>
            <a:spLocks noGrp="1"/>
          </p:cNvSpPr>
          <p:nvPr/>
        </p:nvSpPr>
        <p:spPr>
          <a:xfrm>
            <a:off x="611781" y="2294086"/>
            <a:ext cx="1953655" cy="3095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6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Your permissions</a:t>
            </a:r>
          </a:p>
        </p:txBody>
      </p:sp>
      <p:sp>
        <p:nvSpPr>
          <p:cNvPr id="9" name="Set access and attribution terms for your original ">
            <a:extLst>
              <a:ext uri="{FF2B5EF4-FFF2-40B4-BE49-F238E27FC236}">
                <a16:creationId xmlns:a16="http://schemas.microsoft.com/office/drawing/2014/main" id="{04CD17C8-311C-402A-A5DF-8DFCE0E01570}"/>
              </a:ext>
            </a:extLst>
          </p:cNvPr>
          <p:cNvSpPr>
            <a:spLocks noGrp="1"/>
          </p:cNvSpPr>
          <p:nvPr/>
        </p:nvSpPr>
        <p:spPr>
          <a:xfrm>
            <a:off x="3199162" y="2294121"/>
            <a:ext cx="4745471" cy="3011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Set access and attribution terms for your original </a:t>
            </a:r>
          </a:p>
        </p:txBody>
      </p:sp>
      <p:sp>
        <p:nvSpPr>
          <p:cNvPr id="10" name="content. Specify licensing or compensation where ">
            <a:extLst>
              <a:ext uri="{FF2B5EF4-FFF2-40B4-BE49-F238E27FC236}">
                <a16:creationId xmlns:a16="http://schemas.microsoft.com/office/drawing/2014/main" id="{E42F6576-6E36-4C50-AC2C-CD855CE9DDCF}"/>
              </a:ext>
            </a:extLst>
          </p:cNvPr>
          <p:cNvSpPr>
            <a:spLocks noGrp="1"/>
          </p:cNvSpPr>
          <p:nvPr/>
        </p:nvSpPr>
        <p:spPr>
          <a:xfrm>
            <a:off x="3199162" y="2514292"/>
            <a:ext cx="4782686" cy="3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0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content. Specify licensing or compensation</a:t>
            </a:r>
            <a:r>
              <a:rPr lang="en-US" sz="1460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460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where </a:t>
            </a:r>
          </a:p>
        </p:txBody>
      </p:sp>
      <p:sp>
        <p:nvSpPr>
          <p:cNvPr id="11" name="applicable.">
            <a:extLst>
              <a:ext uri="{FF2B5EF4-FFF2-40B4-BE49-F238E27FC236}">
                <a16:creationId xmlns:a16="http://schemas.microsoft.com/office/drawing/2014/main" id="{07E7FB8C-1BE0-4218-A2E9-64A7CAEA404E}"/>
              </a:ext>
            </a:extLst>
          </p:cNvPr>
          <p:cNvSpPr>
            <a:spLocks noGrp="1"/>
          </p:cNvSpPr>
          <p:nvPr/>
        </p:nvSpPr>
        <p:spPr>
          <a:xfrm>
            <a:off x="3199162" y="2740652"/>
            <a:ext cx="1075699" cy="3011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applicable.</a:t>
            </a:r>
          </a:p>
        </p:txBody>
      </p:sp>
      <p:sp>
        <p:nvSpPr>
          <p:cNvPr id="12" name="PROPOSAL: ">
            <a:extLst>
              <a:ext uri="{FF2B5EF4-FFF2-40B4-BE49-F238E27FC236}">
                <a16:creationId xmlns:a16="http://schemas.microsoft.com/office/drawing/2014/main" id="{45B609D8-BCF1-44F1-B8DB-CCC8B22314C9}"/>
              </a:ext>
            </a:extLst>
          </p:cNvPr>
          <p:cNvSpPr>
            <a:spLocks noGrp="1"/>
          </p:cNvSpPr>
          <p:nvPr/>
        </p:nvSpPr>
        <p:spPr>
          <a:xfrm>
            <a:off x="611781" y="3420037"/>
            <a:ext cx="1390784" cy="3095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6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6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PROPOSAL: </a:t>
            </a:r>
          </a:p>
        </p:txBody>
      </p:sp>
      <p:sp>
        <p:nvSpPr>
          <p:cNvPr id="13" name="A university pilot">
            <a:extLst>
              <a:ext uri="{FF2B5EF4-FFF2-40B4-BE49-F238E27FC236}">
                <a16:creationId xmlns:a16="http://schemas.microsoft.com/office/drawing/2014/main" id="{1632DAF3-12B8-4ED1-9524-BDB4BBEB68C8}"/>
              </a:ext>
            </a:extLst>
          </p:cNvPr>
          <p:cNvSpPr>
            <a:spLocks noGrp="1"/>
          </p:cNvSpPr>
          <p:nvPr/>
        </p:nvSpPr>
        <p:spPr>
          <a:xfrm>
            <a:off x="611781" y="3653924"/>
            <a:ext cx="1926916" cy="3092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defRPr>
            </a:pPr>
            <a:r>
              <a:rPr sz="1514" b="1" i="0">
                <a:solidFill>
                  <a:srgbClr val="0B5C6B"/>
                </a:solidFill>
                <a:latin typeface="Verdana"/>
                <a:ea typeface="Verdana"/>
                <a:cs typeface="Verdana"/>
              </a:rPr>
              <a:t>A university pilot</a:t>
            </a:r>
          </a:p>
        </p:txBody>
      </p:sp>
      <p:sp>
        <p:nvSpPr>
          <p:cNvPr id="14" name="An Engineering School-controlled repository could let ">
            <a:extLst>
              <a:ext uri="{FF2B5EF4-FFF2-40B4-BE49-F238E27FC236}">
                <a16:creationId xmlns:a16="http://schemas.microsoft.com/office/drawing/2014/main" id="{B76993D8-99C4-4E8B-8838-8433FA2A372F}"/>
              </a:ext>
            </a:extLst>
          </p:cNvPr>
          <p:cNvSpPr>
            <a:spLocks noGrp="1"/>
          </p:cNvSpPr>
          <p:nvPr/>
        </p:nvSpPr>
        <p:spPr>
          <a:xfrm>
            <a:off x="3199162" y="3453648"/>
            <a:ext cx="5111419" cy="3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0" b="0" i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An Engineering School-controlled repository could let </a:t>
            </a:r>
          </a:p>
        </p:txBody>
      </p:sp>
      <p:sp>
        <p:nvSpPr>
          <p:cNvPr id="15" name="students opt in, validate claims and test retrieval.">
            <a:extLst>
              <a:ext uri="{FF2B5EF4-FFF2-40B4-BE49-F238E27FC236}">
                <a16:creationId xmlns:a16="http://schemas.microsoft.com/office/drawing/2014/main" id="{6D909A0F-6AA2-43B1-9DE2-773F9B40E8A9}"/>
              </a:ext>
            </a:extLst>
          </p:cNvPr>
          <p:cNvSpPr>
            <a:spLocks noGrp="1"/>
          </p:cNvSpPr>
          <p:nvPr/>
        </p:nvSpPr>
        <p:spPr>
          <a:xfrm>
            <a:off x="3199162" y="3673054"/>
            <a:ext cx="4782686" cy="5695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62" b="0" i="0">
                <a:solidFill>
                  <a:srgbClr val="3D4855"/>
                </a:solidFill>
                <a:latin typeface="Verdana"/>
                <a:ea typeface="Verdana"/>
                <a:cs typeface="Verdana"/>
              </a:defRPr>
            </a:pPr>
            <a:r>
              <a:rPr sz="1462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students opt in, </a:t>
            </a:r>
            <a:r>
              <a:rPr lang="en-US" sz="1462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create their own SBTs, </a:t>
            </a:r>
            <a:br>
              <a:rPr lang="en-US" sz="1462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</a:br>
            <a:r>
              <a:rPr sz="1462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validate claims and test retrieval</a:t>
            </a:r>
            <a:r>
              <a:rPr lang="en-US" sz="1462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s</a:t>
            </a:r>
            <a:r>
              <a:rPr sz="1462" b="0" i="0" dirty="0">
                <a:solidFill>
                  <a:srgbClr val="3D4855"/>
                </a:solidFill>
                <a:latin typeface="Verdana"/>
                <a:ea typeface="Verdana"/>
                <a:cs typeface="Verdan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5602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053F80C7-7FFC-4F29-AA1D-4F7195558298}"/>
              </a:ext>
            </a:extLst>
          </p:cNvPr>
          <p:cNvSpPr>
            <a:spLocks noGrp="1"/>
          </p:cNvSpPr>
          <p:nvPr/>
        </p:nvSpPr>
        <p:spPr>
          <a:xfrm>
            <a:off x="0" y="-47"/>
            <a:ext cx="9141714" cy="5144834"/>
          </a:xfrm>
          <a:custGeom>
            <a:avLst/>
            <a:gdLst/>
            <a:ahLst/>
            <a:cxnLst/>
            <a:rect l="0" t="0" r="0" b="0"/>
            <a:pathLst>
              <a:path w="9141714" h="5144834">
                <a:moveTo>
                  <a:pt x="0" y="0"/>
                </a:moveTo>
                <a:lnTo>
                  <a:pt x="9141714" y="0"/>
                </a:lnTo>
                <a:lnTo>
                  <a:pt x="9141714" y="5144834"/>
                </a:lnTo>
                <a:lnTo>
                  <a:pt x="0" y="5144834"/>
                </a:lnTo>
                <a:close/>
              </a:path>
            </a:pathLst>
          </a:custGeom>
          <a:solidFill>
            <a:srgbClr val="1421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B9641B-C112-49E5-A03E-6EABD0E25D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sp>
        <p:nvSpPr>
          <p:cNvPr id="3" name="REMEMBER:">
            <a:extLst>
              <a:ext uri="{FF2B5EF4-FFF2-40B4-BE49-F238E27FC236}">
                <a16:creationId xmlns:a16="http://schemas.microsoft.com/office/drawing/2014/main" id="{40A91AB9-6FEA-4EDF-92D7-B28D4CBDB417}"/>
              </a:ext>
            </a:extLst>
          </p:cNvPr>
          <p:cNvSpPr>
            <a:spLocks noGrp="1"/>
          </p:cNvSpPr>
          <p:nvPr/>
        </p:nvSpPr>
        <p:spPr>
          <a:xfrm>
            <a:off x="790565" y="787227"/>
            <a:ext cx="1982112" cy="4258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72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272" b="1" i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2272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REMEMBER:</a:t>
            </a:r>
          </a:p>
        </p:txBody>
      </p:sp>
      <p:sp>
        <p:nvSpPr>
          <p:cNvPr id="4" name="1. There is nothing “Artificial” or “Intelligent” about AI">
            <a:extLst>
              <a:ext uri="{FF2B5EF4-FFF2-40B4-BE49-F238E27FC236}">
                <a16:creationId xmlns:a16="http://schemas.microsoft.com/office/drawing/2014/main" id="{A00C94DD-415F-4BF6-A7CA-EF8F95A027D0}"/>
              </a:ext>
            </a:extLst>
          </p:cNvPr>
          <p:cNvSpPr>
            <a:spLocks noGrp="1"/>
          </p:cNvSpPr>
          <p:nvPr/>
        </p:nvSpPr>
        <p:spPr>
          <a:xfrm>
            <a:off x="790565" y="1460812"/>
            <a:ext cx="7251015" cy="3507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84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784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pPr>
            <a:r>
              <a:rPr sz="1784" b="1" i="0">
                <a:solidFill>
                  <a:srgbClr val="D4ECEA"/>
                </a:solidFill>
                <a:latin typeface="Verdana"/>
                <a:ea typeface="Verdana"/>
                <a:cs typeface="Verdana"/>
              </a:rPr>
              <a:t>1. There is nothing “Artificial” or “Intelligent” about AI</a:t>
            </a:r>
          </a:p>
        </p:txBody>
      </p:sp>
      <p:sp>
        <p:nvSpPr>
          <p:cNvPr id="5" name="2. Only YOU can define who you are; and only YOU should be ">
            <a:extLst>
              <a:ext uri="{FF2B5EF4-FFF2-40B4-BE49-F238E27FC236}">
                <a16:creationId xmlns:a16="http://schemas.microsoft.com/office/drawing/2014/main" id="{DE82A4DA-5F7A-4AD0-B102-B7AA4F6B493E}"/>
              </a:ext>
            </a:extLst>
          </p:cNvPr>
          <p:cNvSpPr>
            <a:spLocks noGrp="1"/>
          </p:cNvSpPr>
          <p:nvPr/>
        </p:nvSpPr>
        <p:spPr>
          <a:xfrm>
            <a:off x="790565" y="2009879"/>
            <a:ext cx="8044891" cy="3510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86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786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pPr>
            <a:r>
              <a:rPr sz="1786" b="1" i="0">
                <a:solidFill>
                  <a:srgbClr val="D4ECEA"/>
                </a:solidFill>
                <a:latin typeface="Verdana"/>
                <a:ea typeface="Verdana"/>
                <a:cs typeface="Verdana"/>
              </a:rPr>
              <a:t>2. Only YOU can define who you are; and only YOU should be </a:t>
            </a:r>
          </a:p>
        </p:txBody>
      </p:sp>
      <p:sp>
        <p:nvSpPr>
          <p:cNvPr id="6" name="permitted to set the rules and permissions for AI tools to ">
            <a:extLst>
              <a:ext uri="{FF2B5EF4-FFF2-40B4-BE49-F238E27FC236}">
                <a16:creationId xmlns:a16="http://schemas.microsoft.com/office/drawing/2014/main" id="{6B02A9E5-1D9A-40E3-9358-9E6F90A6D661}"/>
              </a:ext>
            </a:extLst>
          </p:cNvPr>
          <p:cNvSpPr>
            <a:spLocks noGrp="1"/>
          </p:cNvSpPr>
          <p:nvPr/>
        </p:nvSpPr>
        <p:spPr>
          <a:xfrm>
            <a:off x="1176528" y="2284676"/>
            <a:ext cx="7501084" cy="3510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86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786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pPr>
            <a:r>
              <a:rPr sz="1786" b="1" i="0">
                <a:solidFill>
                  <a:srgbClr val="D4ECEA"/>
                </a:solidFill>
                <a:latin typeface="Verdana"/>
                <a:ea typeface="Verdana"/>
                <a:cs typeface="Verdana"/>
              </a:rPr>
              <a:t>permitted to set the rules and permissions for AI tools to </a:t>
            </a:r>
          </a:p>
        </p:txBody>
      </p:sp>
      <p:sp>
        <p:nvSpPr>
          <p:cNvPr id="7" name="access your personal and professional identifiers">
            <a:extLst>
              <a:ext uri="{FF2B5EF4-FFF2-40B4-BE49-F238E27FC236}">
                <a16:creationId xmlns:a16="http://schemas.microsoft.com/office/drawing/2014/main" id="{68644BAA-BCAC-4A0C-B684-790EE90EFEAF}"/>
              </a:ext>
            </a:extLst>
          </p:cNvPr>
          <p:cNvSpPr>
            <a:spLocks noGrp="1"/>
          </p:cNvSpPr>
          <p:nvPr/>
        </p:nvSpPr>
        <p:spPr>
          <a:xfrm>
            <a:off x="1176528" y="2559472"/>
            <a:ext cx="6372347" cy="3510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86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786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pPr>
            <a:r>
              <a:rPr sz="1786" b="1" i="0">
                <a:solidFill>
                  <a:srgbClr val="D4ECEA"/>
                </a:solidFill>
                <a:latin typeface="Verdana"/>
                <a:ea typeface="Verdana"/>
                <a:cs typeface="Verdana"/>
              </a:rPr>
              <a:t>access your personal and professional identifiers</a:t>
            </a:r>
          </a:p>
        </p:txBody>
      </p:sp>
      <p:sp>
        <p:nvSpPr>
          <p:cNvPr id="8" name="3. By understanding how to define who YOU are to the ">
            <a:extLst>
              <a:ext uri="{FF2B5EF4-FFF2-40B4-BE49-F238E27FC236}">
                <a16:creationId xmlns:a16="http://schemas.microsoft.com/office/drawing/2014/main" id="{1158892F-D524-44F6-9043-8D306AC33950}"/>
              </a:ext>
            </a:extLst>
          </p:cNvPr>
          <p:cNvSpPr>
            <a:spLocks noGrp="1"/>
          </p:cNvSpPr>
          <p:nvPr/>
        </p:nvSpPr>
        <p:spPr>
          <a:xfrm>
            <a:off x="790565" y="3109304"/>
            <a:ext cx="7228139" cy="3507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84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784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pPr>
            <a:r>
              <a:rPr sz="1784" b="1" i="0">
                <a:solidFill>
                  <a:srgbClr val="D4ECEA"/>
                </a:solidFill>
                <a:latin typeface="Verdana"/>
                <a:ea typeface="Verdana"/>
                <a:cs typeface="Verdana"/>
              </a:rPr>
              <a:t>3. By understanding how to define who YOU are to the </a:t>
            </a:r>
          </a:p>
        </p:txBody>
      </p:sp>
      <p:sp>
        <p:nvSpPr>
          <p:cNvPr id="9" name="agentic AI ecosystem, you can better tame broader AI ">
            <a:extLst>
              <a:ext uri="{FF2B5EF4-FFF2-40B4-BE49-F238E27FC236}">
                <a16:creationId xmlns:a16="http://schemas.microsoft.com/office/drawing/2014/main" id="{C4C7A6D7-8B3D-4790-B6C4-FAE17937E901}"/>
              </a:ext>
            </a:extLst>
          </p:cNvPr>
          <p:cNvSpPr>
            <a:spLocks noGrp="1"/>
          </p:cNvSpPr>
          <p:nvPr/>
        </p:nvSpPr>
        <p:spPr>
          <a:xfrm>
            <a:off x="1176528" y="3384100"/>
            <a:ext cx="7129447" cy="3507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84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784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pPr>
            <a:r>
              <a:rPr sz="1784" b="1" i="0">
                <a:solidFill>
                  <a:srgbClr val="D4ECEA"/>
                </a:solidFill>
                <a:latin typeface="Verdana"/>
                <a:ea typeface="Verdana"/>
                <a:cs typeface="Verdana"/>
              </a:rPr>
              <a:t>agentic AI ecosystem, you can better tame broader AI </a:t>
            </a:r>
          </a:p>
        </p:txBody>
      </p:sp>
      <p:sp>
        <p:nvSpPr>
          <p:cNvPr id="10" name="tools for your use as your trusted assistant.">
            <a:extLst>
              <a:ext uri="{FF2B5EF4-FFF2-40B4-BE49-F238E27FC236}">
                <a16:creationId xmlns:a16="http://schemas.microsoft.com/office/drawing/2014/main" id="{08EDFF24-84BE-4D95-AD8B-C41AE7CD3AED}"/>
              </a:ext>
            </a:extLst>
          </p:cNvPr>
          <p:cNvSpPr>
            <a:spLocks noGrp="1"/>
          </p:cNvSpPr>
          <p:nvPr/>
        </p:nvSpPr>
        <p:spPr>
          <a:xfrm>
            <a:off x="1176528" y="3658467"/>
            <a:ext cx="5696287" cy="3510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86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786" b="1" i="0">
                <a:solidFill>
                  <a:srgbClr val="D4ECEA"/>
                </a:solidFill>
                <a:latin typeface="Verdana"/>
                <a:ea typeface="Verdana"/>
                <a:cs typeface="Verdana"/>
              </a:defRPr>
            </a:pPr>
            <a:r>
              <a:rPr sz="1786" b="1" i="0">
                <a:solidFill>
                  <a:srgbClr val="D4ECEA"/>
                </a:solidFill>
                <a:latin typeface="Verdana"/>
                <a:ea typeface="Verdana"/>
                <a:cs typeface="Verdana"/>
              </a:rPr>
              <a:t>tools for your use as your trusted assistant.</a:t>
            </a:r>
          </a:p>
        </p:txBody>
      </p:sp>
      <p:sp>
        <p:nvSpPr>
          <p:cNvPr id="11" name="13">
            <a:extLst>
              <a:ext uri="{FF2B5EF4-FFF2-40B4-BE49-F238E27FC236}">
                <a16:creationId xmlns:a16="http://schemas.microsoft.com/office/drawing/2014/main" id="{64C9107F-D340-4FCB-AEB9-50886D7E659D}"/>
              </a:ext>
            </a:extLst>
          </p:cNvPr>
          <p:cNvSpPr>
            <a:spLocks noGrp="1"/>
          </p:cNvSpPr>
          <p:nvPr/>
        </p:nvSpPr>
        <p:spPr>
          <a:xfrm>
            <a:off x="525942" y="4856879"/>
            <a:ext cx="199222" cy="192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56" b="0" i="0">
                <a:solidFill>
                  <a:srgbClr val="B4CAD5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756" b="0" i="0">
                <a:solidFill>
                  <a:srgbClr val="B4CAD5"/>
                </a:solidFill>
                <a:latin typeface="Verdana"/>
                <a:ea typeface="Verdana"/>
                <a:cs typeface="Verdana"/>
              </a:defRPr>
            </a:pPr>
            <a:r>
              <a:rPr sz="756" b="0" i="0">
                <a:solidFill>
                  <a:srgbClr val="B4CAD5"/>
                </a:solidFill>
                <a:latin typeface="Verdana"/>
                <a:ea typeface="Verdana"/>
                <a:cs typeface="Verdana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28955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C20D55DD-3DAA-470C-9992-0C65301D898E}"/>
              </a:ext>
            </a:extLst>
          </p:cNvPr>
          <p:cNvSpPr>
            <a:spLocks noGrp="1"/>
          </p:cNvSpPr>
          <p:nvPr/>
        </p:nvSpPr>
        <p:spPr>
          <a:xfrm>
            <a:off x="0" y="-47"/>
            <a:ext cx="9141714" cy="5144834"/>
          </a:xfrm>
          <a:custGeom>
            <a:avLst/>
            <a:gdLst/>
            <a:ahLst/>
            <a:cxnLst/>
            <a:rect l="0" t="0" r="0" b="0"/>
            <a:pathLst>
              <a:path w="9141714" h="5144834">
                <a:moveTo>
                  <a:pt x="0" y="0"/>
                </a:moveTo>
                <a:lnTo>
                  <a:pt x="9141714" y="0"/>
                </a:lnTo>
                <a:lnTo>
                  <a:pt x="9141714" y="5144834"/>
                </a:lnTo>
                <a:lnTo>
                  <a:pt x="0" y="5144834"/>
                </a:lnTo>
                <a:close/>
              </a:path>
            </a:pathLst>
          </a:custGeom>
          <a:solidFill>
            <a:srgbClr val="1421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0D5528FA-5D43-4851-B01D-0CED376959F8}"/>
              </a:ext>
            </a:extLst>
          </p:cNvPr>
          <p:cNvSpPr>
            <a:spLocks noGrp="1"/>
          </p:cNvSpPr>
          <p:nvPr/>
        </p:nvSpPr>
        <p:spPr>
          <a:xfrm>
            <a:off x="1964150" y="3406712"/>
            <a:ext cx="5218938" cy="6953"/>
          </a:xfrm>
          <a:custGeom>
            <a:avLst/>
            <a:gdLst/>
            <a:ahLst/>
            <a:cxnLst/>
            <a:rect l="0" t="0" r="0" b="0"/>
            <a:pathLst>
              <a:path w="5218938" h="6953">
                <a:moveTo>
                  <a:pt x="0" y="0"/>
                </a:moveTo>
                <a:lnTo>
                  <a:pt x="1304734" y="0"/>
                </a:lnTo>
                <a:lnTo>
                  <a:pt x="2609469" y="0"/>
                </a:lnTo>
                <a:lnTo>
                  <a:pt x="3914204" y="0"/>
                </a:lnTo>
                <a:lnTo>
                  <a:pt x="5218938" y="0"/>
                </a:lnTo>
                <a:lnTo>
                  <a:pt x="5218938" y="6953"/>
                </a:lnTo>
                <a:lnTo>
                  <a:pt x="3914204" y="6953"/>
                </a:lnTo>
                <a:lnTo>
                  <a:pt x="2609469" y="6953"/>
                </a:lnTo>
                <a:lnTo>
                  <a:pt x="1304734" y="6953"/>
                </a:lnTo>
                <a:lnTo>
                  <a:pt x="0" y="6953"/>
                </a:lnTo>
                <a:lnTo>
                  <a:pt x="0" y="0"/>
                </a:lnTo>
              </a:path>
            </a:pathLst>
          </a:custGeom>
          <a:solidFill>
            <a:srgbClr val="4678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0B8DC3-3F58-4F96-B8E1-D15410224B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b="54"/>
          <a:stretch>
            <a:fillRect/>
          </a:stretch>
        </p:blipFill>
        <p:spPr>
          <a:xfrm>
            <a:off x="7262622" y="4534272"/>
            <a:ext cx="1268730" cy="493900"/>
          </a:xfrm>
          <a:prstGeom prst="rect">
            <a:avLst/>
          </a:prstGeom>
        </p:spPr>
      </p:pic>
      <p:sp>
        <p:nvSpPr>
          <p:cNvPr id="4" name="Questions?">
            <a:extLst>
              <a:ext uri="{FF2B5EF4-FFF2-40B4-BE49-F238E27FC236}">
                <a16:creationId xmlns:a16="http://schemas.microsoft.com/office/drawing/2014/main" id="{B4829BDF-4A98-4005-8213-476A55621332}"/>
              </a:ext>
            </a:extLst>
          </p:cNvPr>
          <p:cNvSpPr>
            <a:spLocks noGrp="1"/>
          </p:cNvSpPr>
          <p:nvPr/>
        </p:nvSpPr>
        <p:spPr>
          <a:xfrm>
            <a:off x="3242691" y="1629070"/>
            <a:ext cx="2736142" cy="7214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057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4057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7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5" name="Eva Lerner-Lam">
            <a:extLst>
              <a:ext uri="{FF2B5EF4-FFF2-40B4-BE49-F238E27FC236}">
                <a16:creationId xmlns:a16="http://schemas.microsoft.com/office/drawing/2014/main" id="{1719F956-325F-429F-800C-727C82E713A9}"/>
              </a:ext>
            </a:extLst>
          </p:cNvPr>
          <p:cNvSpPr>
            <a:spLocks noGrp="1"/>
          </p:cNvSpPr>
          <p:nvPr/>
        </p:nvSpPr>
        <p:spPr>
          <a:xfrm>
            <a:off x="3363944" y="2662680"/>
            <a:ext cx="2497955" cy="495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6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706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6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Eva Lerner-Lam</a:t>
            </a:r>
          </a:p>
        </p:txBody>
      </p:sp>
      <p:sp>
        <p:nvSpPr>
          <p:cNvPr id="6" name="elernerlam@palisadesgroup.com">
            <a:extLst>
              <a:ext uri="{FF2B5EF4-FFF2-40B4-BE49-F238E27FC236}">
                <a16:creationId xmlns:a16="http://schemas.microsoft.com/office/drawing/2014/main" id="{FE56024B-E6AB-463F-8A3A-05EC5D5B3B69}"/>
              </a:ext>
            </a:extLst>
          </p:cNvPr>
          <p:cNvSpPr>
            <a:spLocks noGrp="1"/>
          </p:cNvSpPr>
          <p:nvPr/>
        </p:nvSpPr>
        <p:spPr>
          <a:xfrm>
            <a:off x="1963769" y="3075137"/>
            <a:ext cx="5293117" cy="495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4" b="1" i="0">
                <a:solidFill>
                  <a:srgbClr val="467886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704" b="1" i="0">
                <a:solidFill>
                  <a:srgbClr val="467886"/>
                </a:solidFill>
                <a:latin typeface="Aptos"/>
                <a:ea typeface="Aptos"/>
                <a:cs typeface="Aptos"/>
              </a:defRPr>
            </a:pPr>
            <a:r>
              <a:rPr sz="2704" b="1" i="0">
                <a:solidFill>
                  <a:srgbClr val="467886"/>
                </a:solidFill>
                <a:latin typeface="Aptos"/>
                <a:ea typeface="Aptos"/>
                <a:cs typeface="Aptos"/>
              </a:rPr>
              <a:t>elernerlam@palisadesgroup.com</a:t>
            </a:r>
          </a:p>
        </p:txBody>
      </p:sp>
    </p:spTree>
    <p:extLst>
      <p:ext uri="{BB962C8B-B14F-4D97-AF65-F5344CB8AC3E}">
        <p14:creationId xmlns:p14="http://schemas.microsoft.com/office/powerpoint/2010/main" val="11567903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1955</TotalTime>
  <Words>931</Words>
  <Application>Microsoft Macintosh PowerPoint</Application>
  <DocSecurity>0</DocSecurity>
  <PresentationFormat>Custom</PresentationFormat>
  <Paragraphs>195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ArialMT</vt:lpstr>
      <vt:lpstr>Verdana</vt:lpstr>
      <vt:lpstr>VerdanaItalic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Si-Yo Music Society Foundation Inc.</cp:lastModifiedBy>
  <cp:revision>4</cp:revision>
  <dcterms:created xsi:type="dcterms:W3CDTF">2026-10-10T13:47:52Z</dcterms:created>
  <dcterms:modified xsi:type="dcterms:W3CDTF">2026-10-12T01:11:54Z</dcterms:modified>
</cp:coreProperties>
</file>